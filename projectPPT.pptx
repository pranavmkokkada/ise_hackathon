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Luktao Bold" charset="1" panose="00000000000000000000"/>
      <p:regular r:id="rId19"/>
    </p:embeddedFont>
    <p:embeddedFont>
      <p:font typeface="Nunito Bold" charset="1" panose="00000000000000000000"/>
      <p:regular r:id="rId20"/>
    </p:embeddedFont>
    <p:embeddedFont>
      <p:font typeface="Luktao Ultra-Bold" charset="1" panose="00000000000000000000"/>
      <p:regular r:id="rId21"/>
    </p:embeddedFont>
    <p:embeddedFont>
      <p:font typeface="Canva Sans Bold" charset="1" panose="020B0803030501040103"/>
      <p:regular r:id="rId22"/>
    </p:embeddedFont>
    <p:embeddedFont>
      <p:font typeface="Canva Sans" charset="1" panose="020B0503030501040103"/>
      <p:regular r:id="rId23"/>
    </p:embeddedFont>
    <p:embeddedFont>
      <p:font typeface="Nunito"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9.png" Type="http://schemas.openxmlformats.org/officeDocument/2006/relationships/image"/><Relationship Id="rId15" Target="../media/image20.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2" Target="../media/image21.jpeg" Type="http://schemas.openxmlformats.org/officeDocument/2006/relationships/image"/><Relationship Id="rId3" Target="../media/image22.png" Type="http://schemas.openxmlformats.org/officeDocument/2006/relationships/image"/><Relationship Id="rId4" Target="../media/image23.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1.png" Type="http://schemas.openxmlformats.org/officeDocument/2006/relationships/image"/><Relationship Id="rId8" Target="../media/image2.svg" Type="http://schemas.openxmlformats.org/officeDocument/2006/relationships/image"/><Relationship Id="rId9"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svg" Type="http://schemas.openxmlformats.org/officeDocument/2006/relationships/image"/><Relationship Id="rId2" Target="../media/image24.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9.png" Type="http://schemas.openxmlformats.org/officeDocument/2006/relationships/image"/><Relationship Id="rId8" Target="../media/image2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11" Target="../media/image29.svg" Type="http://schemas.openxmlformats.org/officeDocument/2006/relationships/image"/><Relationship Id="rId12" Target="../media/image7.png" Type="http://schemas.openxmlformats.org/officeDocument/2006/relationships/image"/><Relationship Id="rId13" Target="../media/image8.svg" Type="http://schemas.openxmlformats.org/officeDocument/2006/relationships/image"/><Relationship Id="rId14" Target="../media/image30.png" Type="http://schemas.openxmlformats.org/officeDocument/2006/relationships/image"/><Relationship Id="rId15" Target="../media/image31.svg" Type="http://schemas.openxmlformats.org/officeDocument/2006/relationships/image"/><Relationship Id="rId16" Target="../media/image32.png" Type="http://schemas.openxmlformats.org/officeDocument/2006/relationships/image"/><Relationship Id="rId17" Target="../media/image33.svg" Type="http://schemas.openxmlformats.org/officeDocument/2006/relationships/image"/><Relationship Id="rId18" Target="../media/image34.png" Type="http://schemas.openxmlformats.org/officeDocument/2006/relationships/image"/><Relationship Id="rId19" Target="../media/image35.svg" Type="http://schemas.openxmlformats.org/officeDocument/2006/relationships/image"/><Relationship Id="rId2" Target="../media/image26.png" Type="http://schemas.openxmlformats.org/officeDocument/2006/relationships/image"/><Relationship Id="rId3" Target="../media/image27.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12" Target="../media/image38.png" Type="http://schemas.openxmlformats.org/officeDocument/2006/relationships/image"/><Relationship Id="rId13" Target="../media/image39.svg" Type="http://schemas.openxmlformats.org/officeDocument/2006/relationships/image"/><Relationship Id="rId14" Target="../media/image40.png" Type="http://schemas.openxmlformats.org/officeDocument/2006/relationships/image"/><Relationship Id="rId15" Target="../media/image41.svg" Type="http://schemas.openxmlformats.org/officeDocument/2006/relationships/image"/><Relationship Id="rId2" Target="../media/image36.png" Type="http://schemas.openxmlformats.org/officeDocument/2006/relationships/image"/><Relationship Id="rId3" Target="../media/image37.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28.png" Type="http://schemas.openxmlformats.org/officeDocument/2006/relationships/image"/><Relationship Id="rId7" Target="../media/image29.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11" Target="../media/image43.jpeg" Type="http://schemas.openxmlformats.org/officeDocument/2006/relationships/image"/><Relationship Id="rId12" Target="../media/image44.jpeg" Type="http://schemas.openxmlformats.org/officeDocument/2006/relationships/image"/><Relationship Id="rId2" Target="../media/image4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2" Target="../media/image45.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png" Type="http://schemas.openxmlformats.org/officeDocument/2006/relationships/image"/><Relationship Id="rId11" Target="../media/image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 Id="rId3" Target="../media/image4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 Id="rId3" Target="../media/image49.png" Type="http://schemas.openxmlformats.org/officeDocument/2006/relationships/image"/><Relationship Id="rId4" Target="../media/image50.png" Type="http://schemas.openxmlformats.org/officeDocument/2006/relationships/image"/><Relationship Id="rId5" Target="../media/image5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3228782">
            <a:off x="-204932" y="3417043"/>
            <a:ext cx="2467264" cy="3452914"/>
          </a:xfrm>
          <a:custGeom>
            <a:avLst/>
            <a:gdLst/>
            <a:ahLst/>
            <a:cxnLst/>
            <a:rect r="r" b="b" t="t" l="l"/>
            <a:pathLst>
              <a:path h="3452914" w="2467264">
                <a:moveTo>
                  <a:pt x="0" y="0"/>
                </a:moveTo>
                <a:lnTo>
                  <a:pt x="2467264" y="0"/>
                </a:lnTo>
                <a:lnTo>
                  <a:pt x="2467264" y="3452914"/>
                </a:lnTo>
                <a:lnTo>
                  <a:pt x="0" y="3452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6097530">
            <a:off x="14292607" y="-392667"/>
            <a:ext cx="5226651" cy="4114800"/>
          </a:xfrm>
          <a:custGeom>
            <a:avLst/>
            <a:gdLst/>
            <a:ahLst/>
            <a:cxnLst/>
            <a:rect r="r" b="b" t="t" l="l"/>
            <a:pathLst>
              <a:path h="4114800" w="5226651">
                <a:moveTo>
                  <a:pt x="0" y="0"/>
                </a:moveTo>
                <a:lnTo>
                  <a:pt x="5226651" y="0"/>
                </a:lnTo>
                <a:lnTo>
                  <a:pt x="522665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140985">
            <a:off x="13793226" y="7349206"/>
            <a:ext cx="4035849" cy="3492844"/>
          </a:xfrm>
          <a:custGeom>
            <a:avLst/>
            <a:gdLst/>
            <a:ahLst/>
            <a:cxnLst/>
            <a:rect r="r" b="b" t="t" l="l"/>
            <a:pathLst>
              <a:path h="3492844" w="4035849">
                <a:moveTo>
                  <a:pt x="0" y="0"/>
                </a:moveTo>
                <a:lnTo>
                  <a:pt x="4035849" y="0"/>
                </a:lnTo>
                <a:lnTo>
                  <a:pt x="4035849" y="3492844"/>
                </a:lnTo>
                <a:lnTo>
                  <a:pt x="0" y="34928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175390">
            <a:off x="279948" y="7112496"/>
            <a:ext cx="3346085" cy="3966265"/>
          </a:xfrm>
          <a:custGeom>
            <a:avLst/>
            <a:gdLst/>
            <a:ahLst/>
            <a:cxnLst/>
            <a:rect r="r" b="b" t="t" l="l"/>
            <a:pathLst>
              <a:path h="3966265" w="3346085">
                <a:moveTo>
                  <a:pt x="0" y="0"/>
                </a:moveTo>
                <a:lnTo>
                  <a:pt x="3346085" y="0"/>
                </a:lnTo>
                <a:lnTo>
                  <a:pt x="3346085" y="3966264"/>
                </a:lnTo>
                <a:lnTo>
                  <a:pt x="0" y="396626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3713268" y="-797790"/>
            <a:ext cx="2874500" cy="2738614"/>
          </a:xfrm>
          <a:custGeom>
            <a:avLst/>
            <a:gdLst/>
            <a:ahLst/>
            <a:cxnLst/>
            <a:rect r="r" b="b" t="t" l="l"/>
            <a:pathLst>
              <a:path h="2738614" w="2874500">
                <a:moveTo>
                  <a:pt x="0" y="0"/>
                </a:moveTo>
                <a:lnTo>
                  <a:pt x="2874500" y="0"/>
                </a:lnTo>
                <a:lnTo>
                  <a:pt x="2874500" y="2738614"/>
                </a:lnTo>
                <a:lnTo>
                  <a:pt x="0" y="273861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387500">
            <a:off x="10171927" y="8623396"/>
            <a:ext cx="2874500" cy="2738614"/>
          </a:xfrm>
          <a:custGeom>
            <a:avLst/>
            <a:gdLst/>
            <a:ahLst/>
            <a:cxnLst/>
            <a:rect r="r" b="b" t="t" l="l"/>
            <a:pathLst>
              <a:path h="2738614" w="2874500">
                <a:moveTo>
                  <a:pt x="0" y="0"/>
                </a:moveTo>
                <a:lnTo>
                  <a:pt x="2874500" y="0"/>
                </a:lnTo>
                <a:lnTo>
                  <a:pt x="2874500" y="2738615"/>
                </a:lnTo>
                <a:lnTo>
                  <a:pt x="0" y="273861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8025542">
            <a:off x="512006" y="-1132614"/>
            <a:ext cx="2586993" cy="3583996"/>
          </a:xfrm>
          <a:custGeom>
            <a:avLst/>
            <a:gdLst/>
            <a:ahLst/>
            <a:cxnLst/>
            <a:rect r="r" b="b" t="t" l="l"/>
            <a:pathLst>
              <a:path h="3583996" w="2586993">
                <a:moveTo>
                  <a:pt x="0" y="0"/>
                </a:moveTo>
                <a:lnTo>
                  <a:pt x="2586993" y="0"/>
                </a:lnTo>
                <a:lnTo>
                  <a:pt x="2586993" y="3583996"/>
                </a:lnTo>
                <a:lnTo>
                  <a:pt x="0" y="358399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714955">
            <a:off x="16323996" y="4502511"/>
            <a:ext cx="2774897" cy="3668734"/>
          </a:xfrm>
          <a:custGeom>
            <a:avLst/>
            <a:gdLst/>
            <a:ahLst/>
            <a:cxnLst/>
            <a:rect r="r" b="b" t="t" l="l"/>
            <a:pathLst>
              <a:path h="3668734" w="2774897">
                <a:moveTo>
                  <a:pt x="0" y="0"/>
                </a:moveTo>
                <a:lnTo>
                  <a:pt x="2774896" y="0"/>
                </a:lnTo>
                <a:lnTo>
                  <a:pt x="2774896" y="3668734"/>
                </a:lnTo>
                <a:lnTo>
                  <a:pt x="0" y="366873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0" id="10"/>
          <p:cNvSpPr/>
          <p:nvPr/>
        </p:nvSpPr>
        <p:spPr>
          <a:xfrm flipH="false" flipV="false" rot="806298">
            <a:off x="4468997" y="8781341"/>
            <a:ext cx="4076174" cy="2845911"/>
          </a:xfrm>
          <a:custGeom>
            <a:avLst/>
            <a:gdLst/>
            <a:ahLst/>
            <a:cxnLst/>
            <a:rect r="r" b="b" t="t" l="l"/>
            <a:pathLst>
              <a:path h="2845911" w="4076174">
                <a:moveTo>
                  <a:pt x="0" y="0"/>
                </a:moveTo>
                <a:lnTo>
                  <a:pt x="4076174" y="0"/>
                </a:lnTo>
                <a:lnTo>
                  <a:pt x="4076174" y="2845911"/>
                </a:lnTo>
                <a:lnTo>
                  <a:pt x="0" y="2845911"/>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1" id="11"/>
          <p:cNvSpPr/>
          <p:nvPr/>
        </p:nvSpPr>
        <p:spPr>
          <a:xfrm flipH="false" flipV="false" rot="-8647793">
            <a:off x="8425501" y="-639234"/>
            <a:ext cx="1507513" cy="2057400"/>
          </a:xfrm>
          <a:custGeom>
            <a:avLst/>
            <a:gdLst/>
            <a:ahLst/>
            <a:cxnLst/>
            <a:rect r="r" b="b" t="t" l="l"/>
            <a:pathLst>
              <a:path h="2057400" w="1507513">
                <a:moveTo>
                  <a:pt x="0" y="0"/>
                </a:moveTo>
                <a:lnTo>
                  <a:pt x="1507513" y="0"/>
                </a:lnTo>
                <a:lnTo>
                  <a:pt x="1507513" y="2057400"/>
                </a:lnTo>
                <a:lnTo>
                  <a:pt x="0" y="20574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2" id="12"/>
          <p:cNvSpPr/>
          <p:nvPr/>
        </p:nvSpPr>
        <p:spPr>
          <a:xfrm flipH="false" flipV="false" rot="-9808988">
            <a:off x="11128766" y="-822185"/>
            <a:ext cx="2766842" cy="2701444"/>
          </a:xfrm>
          <a:custGeom>
            <a:avLst/>
            <a:gdLst/>
            <a:ahLst/>
            <a:cxnLst/>
            <a:rect r="r" b="b" t="t" l="l"/>
            <a:pathLst>
              <a:path h="2701444" w="2766842">
                <a:moveTo>
                  <a:pt x="0" y="0"/>
                </a:moveTo>
                <a:lnTo>
                  <a:pt x="2766842" y="0"/>
                </a:lnTo>
                <a:lnTo>
                  <a:pt x="2766842" y="2701444"/>
                </a:lnTo>
                <a:lnTo>
                  <a:pt x="0" y="2701444"/>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13" id="13"/>
          <p:cNvSpPr txBox="true"/>
          <p:nvPr/>
        </p:nvSpPr>
        <p:spPr>
          <a:xfrm rot="0">
            <a:off x="1805502" y="3023729"/>
            <a:ext cx="15877233" cy="3667688"/>
          </a:xfrm>
          <a:prstGeom prst="rect">
            <a:avLst/>
          </a:prstGeom>
        </p:spPr>
        <p:txBody>
          <a:bodyPr anchor="t" rtlCol="false" tIns="0" lIns="0" bIns="0" rIns="0">
            <a:spAutoFit/>
          </a:bodyPr>
          <a:lstStyle/>
          <a:p>
            <a:pPr algn="ctr">
              <a:lnSpc>
                <a:spcPts val="7318"/>
              </a:lnSpc>
            </a:pPr>
            <a:r>
              <a:rPr lang="en-US" b="true" sz="5227">
                <a:solidFill>
                  <a:srgbClr val="610C9E"/>
                </a:solidFill>
                <a:latin typeface="Luktao Bold"/>
                <a:ea typeface="Luktao Bold"/>
                <a:cs typeface="Luktao Bold"/>
                <a:sym typeface="Luktao Bold"/>
              </a:rPr>
              <a:t>PREDICTIVE OUTBREAK &amp; SUPPLY CHAIN MAPPER</a:t>
            </a:r>
          </a:p>
          <a:p>
            <a:pPr algn="ctr">
              <a:lnSpc>
                <a:spcPts val="7318"/>
              </a:lnSpc>
            </a:pPr>
          </a:p>
          <a:p>
            <a:pPr algn="ctr">
              <a:lnSpc>
                <a:spcPts val="7318"/>
              </a:lnSpc>
            </a:pPr>
          </a:p>
          <a:p>
            <a:pPr algn="ctr">
              <a:lnSpc>
                <a:spcPts val="7318"/>
              </a:lnSpc>
            </a:pPr>
          </a:p>
        </p:txBody>
      </p:sp>
      <p:sp>
        <p:nvSpPr>
          <p:cNvPr name="TextBox 14" id="14"/>
          <p:cNvSpPr txBox="true"/>
          <p:nvPr/>
        </p:nvSpPr>
        <p:spPr>
          <a:xfrm rot="0">
            <a:off x="3713268" y="3645322"/>
            <a:ext cx="10861464" cy="2691556"/>
          </a:xfrm>
          <a:prstGeom prst="rect">
            <a:avLst/>
          </a:prstGeom>
        </p:spPr>
        <p:txBody>
          <a:bodyPr anchor="t" rtlCol="false" tIns="0" lIns="0" bIns="0" rIns="0">
            <a:spAutoFit/>
          </a:bodyPr>
          <a:lstStyle/>
          <a:p>
            <a:pPr algn="ctr">
              <a:lnSpc>
                <a:spcPts val="21998"/>
              </a:lnSpc>
            </a:pPr>
            <a:r>
              <a:rPr lang="en-US" b="true" sz="15713">
                <a:solidFill>
                  <a:srgbClr val="610C9E"/>
                </a:solidFill>
                <a:latin typeface="Luktao Bold"/>
                <a:ea typeface="Luktao Bold"/>
                <a:cs typeface="Luktao Bold"/>
                <a:sym typeface="Luktao Bold"/>
              </a:rPr>
              <a:t>BIONEXUS</a:t>
            </a:r>
          </a:p>
        </p:txBody>
      </p:sp>
      <p:grpSp>
        <p:nvGrpSpPr>
          <p:cNvPr name="Group 15" id="15"/>
          <p:cNvGrpSpPr/>
          <p:nvPr/>
        </p:nvGrpSpPr>
        <p:grpSpPr>
          <a:xfrm rot="0">
            <a:off x="5187728" y="6119083"/>
            <a:ext cx="7858698" cy="710358"/>
            <a:chOff x="0" y="0"/>
            <a:chExt cx="2069781" cy="187090"/>
          </a:xfrm>
        </p:grpSpPr>
        <p:sp>
          <p:nvSpPr>
            <p:cNvPr name="Freeform 16" id="16"/>
            <p:cNvSpPr/>
            <p:nvPr/>
          </p:nvSpPr>
          <p:spPr>
            <a:xfrm flipH="false" flipV="false" rot="0">
              <a:off x="0" y="0"/>
              <a:ext cx="2069781" cy="187090"/>
            </a:xfrm>
            <a:custGeom>
              <a:avLst/>
              <a:gdLst/>
              <a:ahLst/>
              <a:cxnLst/>
              <a:rect r="r" b="b" t="t" l="l"/>
              <a:pathLst>
                <a:path h="187090" w="2069781">
                  <a:moveTo>
                    <a:pt x="25614" y="0"/>
                  </a:moveTo>
                  <a:lnTo>
                    <a:pt x="2044167" y="0"/>
                  </a:lnTo>
                  <a:cubicBezTo>
                    <a:pt x="2050960" y="0"/>
                    <a:pt x="2057475" y="2699"/>
                    <a:pt x="2062279" y="7502"/>
                  </a:cubicBezTo>
                  <a:cubicBezTo>
                    <a:pt x="2067082" y="12306"/>
                    <a:pt x="2069781" y="18820"/>
                    <a:pt x="2069781" y="25614"/>
                  </a:cubicBezTo>
                  <a:lnTo>
                    <a:pt x="2069781" y="161476"/>
                  </a:lnTo>
                  <a:cubicBezTo>
                    <a:pt x="2069781" y="175622"/>
                    <a:pt x="2058313" y="187090"/>
                    <a:pt x="2044167" y="187090"/>
                  </a:cubicBezTo>
                  <a:lnTo>
                    <a:pt x="25614" y="187090"/>
                  </a:lnTo>
                  <a:cubicBezTo>
                    <a:pt x="11468" y="187090"/>
                    <a:pt x="0" y="175622"/>
                    <a:pt x="0" y="161476"/>
                  </a:cubicBezTo>
                  <a:lnTo>
                    <a:pt x="0" y="25614"/>
                  </a:lnTo>
                  <a:cubicBezTo>
                    <a:pt x="0" y="11468"/>
                    <a:pt x="11468" y="0"/>
                    <a:pt x="25614" y="0"/>
                  </a:cubicBezTo>
                  <a:close/>
                </a:path>
              </a:pathLst>
            </a:custGeom>
            <a:solidFill>
              <a:srgbClr val="610C9E"/>
            </a:solidFill>
          </p:spPr>
        </p:sp>
        <p:sp>
          <p:nvSpPr>
            <p:cNvPr name="TextBox 17" id="17"/>
            <p:cNvSpPr txBox="true"/>
            <p:nvPr/>
          </p:nvSpPr>
          <p:spPr>
            <a:xfrm>
              <a:off x="0" y="-66675"/>
              <a:ext cx="2069781" cy="253765"/>
            </a:xfrm>
            <a:prstGeom prst="rect">
              <a:avLst/>
            </a:prstGeom>
          </p:spPr>
          <p:txBody>
            <a:bodyPr anchor="ctr" rtlCol="false" tIns="0" lIns="0" bIns="0" rIns="0"/>
            <a:lstStyle/>
            <a:p>
              <a:pPr algn="ctr">
                <a:lnSpc>
                  <a:spcPts val="4829"/>
                </a:lnSpc>
              </a:pPr>
              <a:r>
                <a:rPr lang="en-US" b="true" sz="3449" spc="165">
                  <a:solidFill>
                    <a:srgbClr val="FFF6EA"/>
                  </a:solidFill>
                  <a:latin typeface="Nunito Bold"/>
                  <a:ea typeface="Nunito Bold"/>
                  <a:cs typeface="Nunito Bold"/>
                  <a:sym typeface="Nunito Bold"/>
                </a:rPr>
                <a:t>Transforming Healthcare</a:t>
              </a:r>
            </a:p>
          </p:txBody>
        </p:sp>
      </p:grpSp>
      <p:sp>
        <p:nvSpPr>
          <p:cNvPr name="TextBox 18" id="18"/>
          <p:cNvSpPr txBox="true"/>
          <p:nvPr/>
        </p:nvSpPr>
        <p:spPr>
          <a:xfrm rot="0">
            <a:off x="581960" y="1693174"/>
            <a:ext cx="893479" cy="2288758"/>
          </a:xfrm>
          <a:prstGeom prst="rect">
            <a:avLst/>
          </a:prstGeom>
        </p:spPr>
        <p:txBody>
          <a:bodyPr anchor="t" rtlCol="false" tIns="0" lIns="0" bIns="0" rIns="0">
            <a:spAutoFit/>
          </a:bodyPr>
          <a:lstStyle/>
          <a:p>
            <a:pPr algn="l" marL="0" indent="0" lvl="1">
              <a:lnSpc>
                <a:spcPts val="18795"/>
              </a:lnSpc>
              <a:spcBef>
                <a:spcPct val="0"/>
              </a:spcBef>
            </a:pPr>
            <a:r>
              <a:rPr lang="en-US" b="true" sz="13425" spc="644" strike="noStrike" u="none">
                <a:solidFill>
                  <a:srgbClr val="9D34E8"/>
                </a:solidFill>
                <a:latin typeface="Luktao Ultra-Bold"/>
                <a:ea typeface="Luktao Ultra-Bold"/>
                <a:cs typeface="Luktao Ultra-Bold"/>
                <a:sym typeface="Luktao Ultra-Bold"/>
              </a:rPr>
              <a:t>+</a:t>
            </a:r>
          </a:p>
        </p:txBody>
      </p:sp>
      <p:sp>
        <p:nvSpPr>
          <p:cNvPr name="TextBox 19" id="19"/>
          <p:cNvSpPr txBox="true"/>
          <p:nvPr/>
        </p:nvSpPr>
        <p:spPr>
          <a:xfrm rot="0">
            <a:off x="3266528" y="7149988"/>
            <a:ext cx="893479" cy="2288758"/>
          </a:xfrm>
          <a:prstGeom prst="rect">
            <a:avLst/>
          </a:prstGeom>
        </p:spPr>
        <p:txBody>
          <a:bodyPr anchor="t" rtlCol="false" tIns="0" lIns="0" bIns="0" rIns="0">
            <a:spAutoFit/>
          </a:bodyPr>
          <a:lstStyle/>
          <a:p>
            <a:pPr algn="l" marL="0" indent="0" lvl="1">
              <a:lnSpc>
                <a:spcPts val="18795"/>
              </a:lnSpc>
              <a:spcBef>
                <a:spcPct val="0"/>
              </a:spcBef>
            </a:pPr>
            <a:r>
              <a:rPr lang="en-US" b="true" sz="13425" spc="644" strike="noStrike" u="none">
                <a:solidFill>
                  <a:srgbClr val="9D34E8"/>
                </a:solidFill>
                <a:latin typeface="Luktao Ultra-Bold"/>
                <a:ea typeface="Luktao Ultra-Bold"/>
                <a:cs typeface="Luktao Ultra-Bold"/>
                <a:sym typeface="Luktao Ultra-Bold"/>
              </a:rPr>
              <a:t>+</a:t>
            </a:r>
          </a:p>
        </p:txBody>
      </p:sp>
      <p:sp>
        <p:nvSpPr>
          <p:cNvPr name="TextBox 20" id="20"/>
          <p:cNvSpPr txBox="true"/>
          <p:nvPr/>
        </p:nvSpPr>
        <p:spPr>
          <a:xfrm rot="0">
            <a:off x="14917671" y="5518794"/>
            <a:ext cx="893479" cy="2288758"/>
          </a:xfrm>
          <a:prstGeom prst="rect">
            <a:avLst/>
          </a:prstGeom>
        </p:spPr>
        <p:txBody>
          <a:bodyPr anchor="t" rtlCol="false" tIns="0" lIns="0" bIns="0" rIns="0">
            <a:spAutoFit/>
          </a:bodyPr>
          <a:lstStyle/>
          <a:p>
            <a:pPr algn="l" marL="0" indent="0" lvl="1">
              <a:lnSpc>
                <a:spcPts val="18795"/>
              </a:lnSpc>
              <a:spcBef>
                <a:spcPct val="0"/>
              </a:spcBef>
            </a:pPr>
            <a:r>
              <a:rPr lang="en-US" b="true" sz="13425" spc="644" strike="noStrike" u="none">
                <a:solidFill>
                  <a:srgbClr val="9D34E8"/>
                </a:solidFill>
                <a:latin typeface="Luktao Ultra-Bold"/>
                <a:ea typeface="Luktao Ultra-Bold"/>
                <a:cs typeface="Luktao Ultra-Bold"/>
                <a:sym typeface="Luktao Ultra-Bold"/>
              </a:rPr>
              <a:t>+</a:t>
            </a:r>
          </a:p>
        </p:txBody>
      </p:sp>
      <p:sp>
        <p:nvSpPr>
          <p:cNvPr name="TextBox 21" id="21"/>
          <p:cNvSpPr txBox="true"/>
          <p:nvPr/>
        </p:nvSpPr>
        <p:spPr>
          <a:xfrm rot="0">
            <a:off x="15081661" y="1417083"/>
            <a:ext cx="893479" cy="2288758"/>
          </a:xfrm>
          <a:prstGeom prst="rect">
            <a:avLst/>
          </a:prstGeom>
        </p:spPr>
        <p:txBody>
          <a:bodyPr anchor="t" rtlCol="false" tIns="0" lIns="0" bIns="0" rIns="0">
            <a:spAutoFit/>
          </a:bodyPr>
          <a:lstStyle/>
          <a:p>
            <a:pPr algn="l" marL="0" indent="0" lvl="1">
              <a:lnSpc>
                <a:spcPts val="18795"/>
              </a:lnSpc>
              <a:spcBef>
                <a:spcPct val="0"/>
              </a:spcBef>
            </a:pPr>
            <a:r>
              <a:rPr lang="en-US" b="true" sz="13425" spc="644" strike="noStrike" u="none">
                <a:solidFill>
                  <a:srgbClr val="9D34E8"/>
                </a:solidFill>
                <a:latin typeface="Luktao Ultra-Bold"/>
                <a:ea typeface="Luktao Ultra-Bold"/>
                <a:cs typeface="Luktao Ultra-Bold"/>
                <a:sym typeface="Luktao Ultra-Bold"/>
              </a:rPr>
              <a: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TextBox 2" id="2"/>
          <p:cNvSpPr txBox="true"/>
          <p:nvPr/>
        </p:nvSpPr>
        <p:spPr>
          <a:xfrm rot="0">
            <a:off x="3153473" y="2458973"/>
            <a:ext cx="11775949" cy="1650079"/>
          </a:xfrm>
          <a:prstGeom prst="rect">
            <a:avLst/>
          </a:prstGeom>
        </p:spPr>
        <p:txBody>
          <a:bodyPr anchor="t" rtlCol="false" tIns="0" lIns="0" bIns="0" rIns="0">
            <a:spAutoFit/>
          </a:bodyPr>
          <a:lstStyle/>
          <a:p>
            <a:pPr algn="ctr" marL="0" indent="0" lvl="0">
              <a:lnSpc>
                <a:spcPts val="13525"/>
              </a:lnSpc>
              <a:spcBef>
                <a:spcPct val="0"/>
              </a:spcBef>
            </a:pPr>
            <a:r>
              <a:rPr lang="en-US" b="true" sz="9661">
                <a:solidFill>
                  <a:srgbClr val="610C9E"/>
                </a:solidFill>
                <a:latin typeface="Luktao Bold"/>
                <a:ea typeface="Luktao Bold"/>
                <a:cs typeface="Luktao Bold"/>
                <a:sym typeface="Luktao Bold"/>
              </a:rPr>
              <a:t>Problem Statement</a:t>
            </a:r>
          </a:p>
        </p:txBody>
      </p:sp>
      <p:sp>
        <p:nvSpPr>
          <p:cNvPr name="TextBox 3" id="3"/>
          <p:cNvSpPr txBox="true"/>
          <p:nvPr/>
        </p:nvSpPr>
        <p:spPr>
          <a:xfrm rot="0">
            <a:off x="14369280" y="254949"/>
            <a:ext cx="1120283" cy="2873555"/>
          </a:xfrm>
          <a:prstGeom prst="rect">
            <a:avLst/>
          </a:prstGeom>
        </p:spPr>
        <p:txBody>
          <a:bodyPr anchor="t" rtlCol="false" tIns="0" lIns="0" bIns="0" rIns="0">
            <a:spAutoFit/>
          </a:bodyPr>
          <a:lstStyle/>
          <a:p>
            <a:pPr algn="l" marL="0" indent="0" lvl="1">
              <a:lnSpc>
                <a:spcPts val="23566"/>
              </a:lnSpc>
              <a:spcBef>
                <a:spcPct val="0"/>
              </a:spcBef>
            </a:pPr>
            <a:r>
              <a:rPr lang="en-US" b="true" sz="16833" spc="808" strike="noStrike" u="none">
                <a:solidFill>
                  <a:srgbClr val="9D34E8"/>
                </a:solidFill>
                <a:latin typeface="Luktao Ultra-Bold"/>
                <a:ea typeface="Luktao Ultra-Bold"/>
                <a:cs typeface="Luktao Ultra-Bold"/>
                <a:sym typeface="Luktao Ultra-Bold"/>
              </a:rPr>
              <a:t>+</a:t>
            </a:r>
          </a:p>
        </p:txBody>
      </p:sp>
      <p:sp>
        <p:nvSpPr>
          <p:cNvPr name="TextBox 4" id="4"/>
          <p:cNvSpPr txBox="true"/>
          <p:nvPr/>
        </p:nvSpPr>
        <p:spPr>
          <a:xfrm rot="0">
            <a:off x="14929421" y="5872604"/>
            <a:ext cx="900625" cy="2314608"/>
          </a:xfrm>
          <a:prstGeom prst="rect">
            <a:avLst/>
          </a:prstGeom>
        </p:spPr>
        <p:txBody>
          <a:bodyPr anchor="t" rtlCol="false" tIns="0" lIns="0" bIns="0" rIns="0">
            <a:spAutoFit/>
          </a:bodyPr>
          <a:lstStyle/>
          <a:p>
            <a:pPr algn="l" marL="0" indent="0" lvl="1">
              <a:lnSpc>
                <a:spcPts val="18946"/>
              </a:lnSpc>
              <a:spcBef>
                <a:spcPct val="0"/>
              </a:spcBef>
            </a:pPr>
            <a:r>
              <a:rPr lang="en-US" b="true" sz="13532" spc="649" strike="noStrike" u="none">
                <a:solidFill>
                  <a:srgbClr val="9D34E8"/>
                </a:solidFill>
                <a:latin typeface="Luktao Ultra-Bold"/>
                <a:ea typeface="Luktao Ultra-Bold"/>
                <a:cs typeface="Luktao Ultra-Bold"/>
                <a:sym typeface="Luktao Ultra-Bold"/>
              </a:rPr>
              <a:t>+</a:t>
            </a:r>
          </a:p>
        </p:txBody>
      </p:sp>
      <p:sp>
        <p:nvSpPr>
          <p:cNvPr name="TextBox 5" id="5"/>
          <p:cNvSpPr txBox="true"/>
          <p:nvPr/>
        </p:nvSpPr>
        <p:spPr>
          <a:xfrm rot="0">
            <a:off x="2259994" y="1860300"/>
            <a:ext cx="893479" cy="2288758"/>
          </a:xfrm>
          <a:prstGeom prst="rect">
            <a:avLst/>
          </a:prstGeom>
        </p:spPr>
        <p:txBody>
          <a:bodyPr anchor="t" rtlCol="false" tIns="0" lIns="0" bIns="0" rIns="0">
            <a:spAutoFit/>
          </a:bodyPr>
          <a:lstStyle/>
          <a:p>
            <a:pPr algn="l" marL="0" indent="0" lvl="1">
              <a:lnSpc>
                <a:spcPts val="18795"/>
              </a:lnSpc>
              <a:spcBef>
                <a:spcPct val="0"/>
              </a:spcBef>
            </a:pPr>
            <a:r>
              <a:rPr lang="en-US" b="true" sz="13425" spc="644" strike="noStrike" u="none">
                <a:solidFill>
                  <a:srgbClr val="9D34E8"/>
                </a:solidFill>
                <a:latin typeface="Luktao Ultra-Bold"/>
                <a:ea typeface="Luktao Ultra-Bold"/>
                <a:cs typeface="Luktao Ultra-Bold"/>
                <a:sym typeface="Luktao Ultra-Bold"/>
              </a:rPr>
              <a:t>+</a:t>
            </a:r>
          </a:p>
        </p:txBody>
      </p:sp>
      <p:sp>
        <p:nvSpPr>
          <p:cNvPr name="Freeform 6" id="6"/>
          <p:cNvSpPr/>
          <p:nvPr/>
        </p:nvSpPr>
        <p:spPr>
          <a:xfrm flipH="false" flipV="false" rot="-1140985">
            <a:off x="14951493" y="7586842"/>
            <a:ext cx="3408816" cy="2950175"/>
          </a:xfrm>
          <a:custGeom>
            <a:avLst/>
            <a:gdLst/>
            <a:ahLst/>
            <a:cxnLst/>
            <a:rect r="r" b="b" t="t" l="l"/>
            <a:pathLst>
              <a:path h="2950175" w="3408816">
                <a:moveTo>
                  <a:pt x="0" y="0"/>
                </a:moveTo>
                <a:lnTo>
                  <a:pt x="3408816" y="0"/>
                </a:lnTo>
                <a:lnTo>
                  <a:pt x="3408816" y="2950175"/>
                </a:lnTo>
                <a:lnTo>
                  <a:pt x="0" y="29501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220772">
            <a:off x="15643613" y="2686310"/>
            <a:ext cx="3595248" cy="4753332"/>
          </a:xfrm>
          <a:custGeom>
            <a:avLst/>
            <a:gdLst/>
            <a:ahLst/>
            <a:cxnLst/>
            <a:rect r="r" b="b" t="t" l="l"/>
            <a:pathLst>
              <a:path h="4753332" w="3595248">
                <a:moveTo>
                  <a:pt x="0" y="0"/>
                </a:moveTo>
                <a:lnTo>
                  <a:pt x="3595248" y="0"/>
                </a:lnTo>
                <a:lnTo>
                  <a:pt x="3595248" y="4753333"/>
                </a:lnTo>
                <a:lnTo>
                  <a:pt x="0" y="47533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3228782">
            <a:off x="-562000" y="3471306"/>
            <a:ext cx="2931259" cy="4102271"/>
          </a:xfrm>
          <a:custGeom>
            <a:avLst/>
            <a:gdLst/>
            <a:ahLst/>
            <a:cxnLst/>
            <a:rect r="r" b="b" t="t" l="l"/>
            <a:pathLst>
              <a:path h="4102271" w="2931259">
                <a:moveTo>
                  <a:pt x="0" y="0"/>
                </a:moveTo>
                <a:lnTo>
                  <a:pt x="2931260" y="0"/>
                </a:lnTo>
                <a:lnTo>
                  <a:pt x="2931260" y="4102271"/>
                </a:lnTo>
                <a:lnTo>
                  <a:pt x="0" y="41022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175390">
            <a:off x="361957" y="7078797"/>
            <a:ext cx="3346085" cy="3966265"/>
          </a:xfrm>
          <a:custGeom>
            <a:avLst/>
            <a:gdLst/>
            <a:ahLst/>
            <a:cxnLst/>
            <a:rect r="r" b="b" t="t" l="l"/>
            <a:pathLst>
              <a:path h="3966265" w="3346085">
                <a:moveTo>
                  <a:pt x="0" y="0"/>
                </a:moveTo>
                <a:lnTo>
                  <a:pt x="3346085" y="0"/>
                </a:lnTo>
                <a:lnTo>
                  <a:pt x="3346085" y="3966264"/>
                </a:lnTo>
                <a:lnTo>
                  <a:pt x="0" y="396626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387500">
            <a:off x="-985947" y="1583014"/>
            <a:ext cx="1971893" cy="1878677"/>
          </a:xfrm>
          <a:custGeom>
            <a:avLst/>
            <a:gdLst/>
            <a:ahLst/>
            <a:cxnLst/>
            <a:rect r="r" b="b" t="t" l="l"/>
            <a:pathLst>
              <a:path h="1878677" w="1971893">
                <a:moveTo>
                  <a:pt x="0" y="0"/>
                </a:moveTo>
                <a:lnTo>
                  <a:pt x="1971894" y="0"/>
                </a:lnTo>
                <a:lnTo>
                  <a:pt x="1971894" y="1878676"/>
                </a:lnTo>
                <a:lnTo>
                  <a:pt x="0" y="187867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8025542">
            <a:off x="512006" y="-1132614"/>
            <a:ext cx="2586993" cy="3583996"/>
          </a:xfrm>
          <a:custGeom>
            <a:avLst/>
            <a:gdLst/>
            <a:ahLst/>
            <a:cxnLst/>
            <a:rect r="r" b="b" t="t" l="l"/>
            <a:pathLst>
              <a:path h="3583996" w="2586993">
                <a:moveTo>
                  <a:pt x="0" y="0"/>
                </a:moveTo>
                <a:lnTo>
                  <a:pt x="2586993" y="0"/>
                </a:lnTo>
                <a:lnTo>
                  <a:pt x="2586993" y="3583996"/>
                </a:lnTo>
                <a:lnTo>
                  <a:pt x="0" y="358399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9808988">
            <a:off x="14289269" y="-1405611"/>
            <a:ext cx="3576181" cy="3491653"/>
          </a:xfrm>
          <a:custGeom>
            <a:avLst/>
            <a:gdLst/>
            <a:ahLst/>
            <a:cxnLst/>
            <a:rect r="r" b="b" t="t" l="l"/>
            <a:pathLst>
              <a:path h="3491653" w="3576181">
                <a:moveTo>
                  <a:pt x="0" y="0"/>
                </a:moveTo>
                <a:lnTo>
                  <a:pt x="3576180" y="0"/>
                </a:lnTo>
                <a:lnTo>
                  <a:pt x="3576180" y="3491653"/>
                </a:lnTo>
                <a:lnTo>
                  <a:pt x="0" y="349165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3" id="13"/>
          <p:cNvGrpSpPr/>
          <p:nvPr/>
        </p:nvGrpSpPr>
        <p:grpSpPr>
          <a:xfrm rot="0">
            <a:off x="3424431" y="4347658"/>
            <a:ext cx="11139439" cy="4809766"/>
            <a:chOff x="0" y="0"/>
            <a:chExt cx="2933844" cy="1266770"/>
          </a:xfrm>
        </p:grpSpPr>
        <p:sp>
          <p:nvSpPr>
            <p:cNvPr name="Freeform 14" id="14"/>
            <p:cNvSpPr/>
            <p:nvPr/>
          </p:nvSpPr>
          <p:spPr>
            <a:xfrm flipH="false" flipV="false" rot="0">
              <a:off x="0" y="0"/>
              <a:ext cx="2933844" cy="1266770"/>
            </a:xfrm>
            <a:custGeom>
              <a:avLst/>
              <a:gdLst/>
              <a:ahLst/>
              <a:cxnLst/>
              <a:rect r="r" b="b" t="t" l="l"/>
              <a:pathLst>
                <a:path h="1266770" w="2933844">
                  <a:moveTo>
                    <a:pt x="0" y="0"/>
                  </a:moveTo>
                  <a:lnTo>
                    <a:pt x="2933844" y="0"/>
                  </a:lnTo>
                  <a:lnTo>
                    <a:pt x="2933844" y="1266770"/>
                  </a:lnTo>
                  <a:lnTo>
                    <a:pt x="0" y="1266770"/>
                  </a:lnTo>
                  <a:close/>
                </a:path>
              </a:pathLst>
            </a:custGeom>
            <a:solidFill>
              <a:srgbClr val="610C9E"/>
            </a:solidFill>
          </p:spPr>
        </p:sp>
        <p:sp>
          <p:nvSpPr>
            <p:cNvPr name="TextBox 15" id="15"/>
            <p:cNvSpPr txBox="true"/>
            <p:nvPr/>
          </p:nvSpPr>
          <p:spPr>
            <a:xfrm>
              <a:off x="0" y="-57150"/>
              <a:ext cx="2933844" cy="1323920"/>
            </a:xfrm>
            <a:prstGeom prst="rect">
              <a:avLst/>
            </a:prstGeom>
          </p:spPr>
          <p:txBody>
            <a:bodyPr anchor="ctr" rtlCol="false" tIns="50800" lIns="50800" bIns="50800" rIns="50800"/>
            <a:lstStyle/>
            <a:p>
              <a:pPr algn="l" marL="582925" indent="-291463" lvl="1">
                <a:lnSpc>
                  <a:spcPts val="3779"/>
                </a:lnSpc>
                <a:buFont typeface="Arial"/>
                <a:buChar char="•"/>
              </a:pPr>
              <a:r>
                <a:rPr lang="en-US" b="true" sz="2699">
                  <a:solidFill>
                    <a:srgbClr val="FFFFFF"/>
                  </a:solidFill>
                  <a:latin typeface="Canva Sans Bold"/>
                  <a:ea typeface="Canva Sans Bold"/>
                  <a:cs typeface="Canva Sans Bold"/>
                  <a:sym typeface="Canva Sans Bold"/>
                </a:rPr>
                <a:t>Unpredictable Outbreaks</a:t>
              </a:r>
            </a:p>
            <a:p>
              <a:pPr algn="l">
                <a:lnSpc>
                  <a:spcPts val="3499"/>
                </a:lnSpc>
              </a:pPr>
              <a:r>
                <a:rPr lang="en-US" sz="2499">
                  <a:solidFill>
                    <a:srgbClr val="FFFFFF"/>
                  </a:solidFill>
                  <a:latin typeface="Canva Sans"/>
                  <a:ea typeface="Canva Sans"/>
                  <a:cs typeface="Canva Sans"/>
                  <a:sym typeface="Canva Sans"/>
                </a:rPr>
                <a:t>Infectious diseases like dengue, influenza, and emerging pathogens spread rapidly, often catching health systems unprepared. Traditional surveillance methods lag behind real-time disease progression.</a:t>
              </a:r>
            </a:p>
            <a:p>
              <a:pPr algn="l">
                <a:lnSpc>
                  <a:spcPts val="3499"/>
                </a:lnSpc>
              </a:pPr>
            </a:p>
            <a:p>
              <a:pPr algn="l" marL="582925" indent="-291463" lvl="1">
                <a:lnSpc>
                  <a:spcPts val="3779"/>
                </a:lnSpc>
                <a:buFont typeface="Arial"/>
                <a:buChar char="•"/>
              </a:pPr>
              <a:r>
                <a:rPr lang="en-US" b="true" sz="2699">
                  <a:solidFill>
                    <a:srgbClr val="FFFFFF"/>
                  </a:solidFill>
                  <a:latin typeface="Canva Sans Bold"/>
                  <a:ea typeface="Canva Sans Bold"/>
                  <a:cs typeface="Canva Sans Bold"/>
                  <a:sym typeface="Canva Sans Bold"/>
                </a:rPr>
                <a:t>Critical Resource Gaps</a:t>
              </a:r>
            </a:p>
            <a:p>
              <a:pPr algn="l">
                <a:lnSpc>
                  <a:spcPts val="3499"/>
                </a:lnSpc>
              </a:pPr>
              <a:r>
                <a:rPr lang="en-US" sz="2499">
                  <a:solidFill>
                    <a:srgbClr val="FFFFFF"/>
                  </a:solidFill>
                  <a:latin typeface="Canva Sans"/>
                  <a:ea typeface="Canva Sans"/>
                  <a:cs typeface="Canva Sans"/>
                  <a:sym typeface="Canva Sans"/>
                </a:rPr>
                <a:t>Hospitals frequently face acute shortages of essential medicines and equipment during outbreaks. Current systems lack predictive capabilities to enable proactive resource allocation.</a:t>
              </a:r>
            </a:p>
            <a:p>
              <a:pPr algn="l">
                <a:lnSpc>
                  <a:spcPts val="2659"/>
                </a:lnSpc>
              </a:pPr>
            </a:p>
            <a:p>
              <a:pPr algn="ctr">
                <a:lnSpc>
                  <a:spcPts val="2659"/>
                </a:lnSpc>
                <a:spcBef>
                  <a:spcPct val="0"/>
                </a:spcBef>
              </a:pPr>
            </a:p>
          </p:txBody>
        </p:sp>
      </p:grpSp>
      <p:sp>
        <p:nvSpPr>
          <p:cNvPr name="TextBox 16" id="16"/>
          <p:cNvSpPr txBox="true"/>
          <p:nvPr/>
        </p:nvSpPr>
        <p:spPr>
          <a:xfrm rot="0">
            <a:off x="9139238" y="2685104"/>
            <a:ext cx="9525" cy="2287892"/>
          </a:xfrm>
          <a:prstGeom prst="rect">
            <a:avLst/>
          </a:prstGeom>
        </p:spPr>
        <p:txBody>
          <a:bodyPr anchor="t" rtlCol="false" tIns="0" lIns="0" bIns="0" rIns="0">
            <a:spAutoFit/>
          </a:bodyPr>
          <a:lstStyle/>
          <a:p>
            <a:pPr algn="ctr">
              <a:lnSpc>
                <a:spcPts val="18795"/>
              </a:lnSpc>
              <a:spcBef>
                <a:spcPct val="0"/>
              </a:spcBef>
            </a:pPr>
          </a:p>
        </p:txBody>
      </p:sp>
      <p:sp>
        <p:nvSpPr>
          <p:cNvPr name="TextBox 17" id="17"/>
          <p:cNvSpPr txBox="true"/>
          <p:nvPr/>
        </p:nvSpPr>
        <p:spPr>
          <a:xfrm rot="0">
            <a:off x="3424431" y="9233624"/>
            <a:ext cx="11139439" cy="1098196"/>
          </a:xfrm>
          <a:prstGeom prst="rect">
            <a:avLst/>
          </a:prstGeom>
        </p:spPr>
        <p:txBody>
          <a:bodyPr anchor="t" rtlCol="false" tIns="0" lIns="0" bIns="0" rIns="0">
            <a:spAutoFit/>
          </a:bodyPr>
          <a:lstStyle/>
          <a:p>
            <a:pPr algn="ctr">
              <a:lnSpc>
                <a:spcPts val="2994"/>
              </a:lnSpc>
            </a:pPr>
            <a:r>
              <a:rPr lang="en-US" sz="2138" b="true">
                <a:solidFill>
                  <a:srgbClr val="9D34E8"/>
                </a:solidFill>
                <a:latin typeface="Canva Sans Bold"/>
                <a:ea typeface="Canva Sans Bold"/>
                <a:cs typeface="Canva Sans Bold"/>
                <a:sym typeface="Canva Sans Bold"/>
              </a:rPr>
              <a:t>The Missing Link: Health officials lack actionable, real-time predictive dashboards that integrate disease forecasting with supply chain visibility.</a:t>
            </a:r>
          </a:p>
          <a:p>
            <a:pPr algn="ctr">
              <a:lnSpc>
                <a:spcPts val="2994"/>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11880070" y="0"/>
            <a:ext cx="6407930" cy="10287000"/>
          </a:xfrm>
          <a:custGeom>
            <a:avLst/>
            <a:gdLst/>
            <a:ahLst/>
            <a:cxnLst/>
            <a:rect r="r" b="b" t="t" l="l"/>
            <a:pathLst>
              <a:path h="10287000" w="6407930">
                <a:moveTo>
                  <a:pt x="0" y="0"/>
                </a:moveTo>
                <a:lnTo>
                  <a:pt x="6407930" y="0"/>
                </a:lnTo>
                <a:lnTo>
                  <a:pt x="6407930" y="10287000"/>
                </a:lnTo>
                <a:lnTo>
                  <a:pt x="0" y="10287000"/>
                </a:lnTo>
                <a:lnTo>
                  <a:pt x="0" y="0"/>
                </a:lnTo>
                <a:close/>
              </a:path>
            </a:pathLst>
          </a:custGeom>
          <a:blipFill>
            <a:blip r:embed="rId2"/>
            <a:stretch>
              <a:fillRect l="-11772" t="-2186" r="0" b="-2186"/>
            </a:stretch>
          </a:blipFill>
        </p:spPr>
      </p:sp>
      <p:grpSp>
        <p:nvGrpSpPr>
          <p:cNvPr name="Group 3" id="3"/>
          <p:cNvGrpSpPr/>
          <p:nvPr/>
        </p:nvGrpSpPr>
        <p:grpSpPr>
          <a:xfrm rot="0">
            <a:off x="9144000" y="7014710"/>
            <a:ext cx="6813914" cy="2496077"/>
            <a:chOff x="0" y="0"/>
            <a:chExt cx="1794611" cy="657403"/>
          </a:xfrm>
        </p:grpSpPr>
        <p:sp>
          <p:nvSpPr>
            <p:cNvPr name="Freeform 4" id="4"/>
            <p:cNvSpPr/>
            <p:nvPr/>
          </p:nvSpPr>
          <p:spPr>
            <a:xfrm flipH="false" flipV="false" rot="0">
              <a:off x="0" y="0"/>
              <a:ext cx="1794611" cy="657403"/>
            </a:xfrm>
            <a:custGeom>
              <a:avLst/>
              <a:gdLst/>
              <a:ahLst/>
              <a:cxnLst/>
              <a:rect r="r" b="b" t="t" l="l"/>
              <a:pathLst>
                <a:path h="657403" w="1794611">
                  <a:moveTo>
                    <a:pt x="31813" y="0"/>
                  </a:moveTo>
                  <a:lnTo>
                    <a:pt x="1762798" y="0"/>
                  </a:lnTo>
                  <a:cubicBezTo>
                    <a:pt x="1771235" y="0"/>
                    <a:pt x="1779327" y="3352"/>
                    <a:pt x="1785293" y="9318"/>
                  </a:cubicBezTo>
                  <a:cubicBezTo>
                    <a:pt x="1791259" y="15284"/>
                    <a:pt x="1794611" y="23376"/>
                    <a:pt x="1794611" y="31813"/>
                  </a:cubicBezTo>
                  <a:lnTo>
                    <a:pt x="1794611" y="625590"/>
                  </a:lnTo>
                  <a:cubicBezTo>
                    <a:pt x="1794611" y="634027"/>
                    <a:pt x="1791259" y="642119"/>
                    <a:pt x="1785293" y="648085"/>
                  </a:cubicBezTo>
                  <a:cubicBezTo>
                    <a:pt x="1779327" y="654051"/>
                    <a:pt x="1771235" y="657403"/>
                    <a:pt x="1762798" y="657403"/>
                  </a:cubicBezTo>
                  <a:lnTo>
                    <a:pt x="31813" y="657403"/>
                  </a:lnTo>
                  <a:cubicBezTo>
                    <a:pt x="23376" y="657403"/>
                    <a:pt x="15284" y="654051"/>
                    <a:pt x="9318" y="648085"/>
                  </a:cubicBezTo>
                  <a:cubicBezTo>
                    <a:pt x="3352" y="642119"/>
                    <a:pt x="0" y="634027"/>
                    <a:pt x="0" y="625590"/>
                  </a:cubicBezTo>
                  <a:lnTo>
                    <a:pt x="0" y="31813"/>
                  </a:lnTo>
                  <a:cubicBezTo>
                    <a:pt x="0" y="23376"/>
                    <a:pt x="3352" y="15284"/>
                    <a:pt x="9318" y="9318"/>
                  </a:cubicBezTo>
                  <a:cubicBezTo>
                    <a:pt x="15284" y="3352"/>
                    <a:pt x="23376" y="0"/>
                    <a:pt x="31813" y="0"/>
                  </a:cubicBezTo>
                  <a:close/>
                </a:path>
              </a:pathLst>
            </a:custGeom>
            <a:solidFill>
              <a:srgbClr val="610C9E"/>
            </a:solidFill>
          </p:spPr>
        </p:sp>
        <p:sp>
          <p:nvSpPr>
            <p:cNvPr name="TextBox 5" id="5"/>
            <p:cNvSpPr txBox="true"/>
            <p:nvPr/>
          </p:nvSpPr>
          <p:spPr>
            <a:xfrm>
              <a:off x="0" y="-38100"/>
              <a:ext cx="1794611" cy="695503"/>
            </a:xfrm>
            <a:prstGeom prst="rect">
              <a:avLst/>
            </a:prstGeom>
          </p:spPr>
          <p:txBody>
            <a:bodyPr anchor="ctr" rtlCol="false" tIns="50800" lIns="50800" bIns="50800" rIns="50800"/>
            <a:lstStyle/>
            <a:p>
              <a:pPr algn="ctr">
                <a:lnSpc>
                  <a:spcPts val="2862"/>
                </a:lnSpc>
              </a:pPr>
              <a:r>
                <a:rPr lang="en-US" b="true" sz="2044">
                  <a:solidFill>
                    <a:srgbClr val="F7FCFD"/>
                  </a:solidFill>
                  <a:latin typeface="Nunito Bold"/>
                  <a:ea typeface="Nunito Bold"/>
                  <a:cs typeface="Nunito Bold"/>
                  <a:sym typeface="Nunito Bold"/>
                </a:rPr>
                <a:t>Predicting the future of healthcare, so communities are prepared, hospitals are ready, and lives are saved.”</a:t>
              </a:r>
            </a:p>
          </p:txBody>
        </p:sp>
      </p:grpSp>
      <p:sp>
        <p:nvSpPr>
          <p:cNvPr name="Freeform 6" id="6"/>
          <p:cNvSpPr/>
          <p:nvPr/>
        </p:nvSpPr>
        <p:spPr>
          <a:xfrm flipH="false" flipV="false" rot="0">
            <a:off x="9333402" y="7097638"/>
            <a:ext cx="888612" cy="675345"/>
          </a:xfrm>
          <a:custGeom>
            <a:avLst/>
            <a:gdLst/>
            <a:ahLst/>
            <a:cxnLst/>
            <a:rect r="r" b="b" t="t" l="l"/>
            <a:pathLst>
              <a:path h="675345" w="888612">
                <a:moveTo>
                  <a:pt x="0" y="0"/>
                </a:moveTo>
                <a:lnTo>
                  <a:pt x="888612" y="0"/>
                </a:lnTo>
                <a:lnTo>
                  <a:pt x="888612" y="675345"/>
                </a:lnTo>
                <a:lnTo>
                  <a:pt x="0" y="6753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7300463">
            <a:off x="8276996" y="-1035313"/>
            <a:ext cx="3693709" cy="2907957"/>
          </a:xfrm>
          <a:custGeom>
            <a:avLst/>
            <a:gdLst/>
            <a:ahLst/>
            <a:cxnLst/>
            <a:rect r="r" b="b" t="t" l="l"/>
            <a:pathLst>
              <a:path h="2907957" w="3693709">
                <a:moveTo>
                  <a:pt x="0" y="0"/>
                </a:moveTo>
                <a:lnTo>
                  <a:pt x="3693709" y="0"/>
                </a:lnTo>
                <a:lnTo>
                  <a:pt x="3693709" y="2907957"/>
                </a:lnTo>
                <a:lnTo>
                  <a:pt x="0" y="29079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1205058" y="3633625"/>
            <a:ext cx="257730" cy="1402996"/>
            <a:chOff x="0" y="0"/>
            <a:chExt cx="60710" cy="330485"/>
          </a:xfrm>
        </p:grpSpPr>
        <p:sp>
          <p:nvSpPr>
            <p:cNvPr name="Freeform 9" id="9"/>
            <p:cNvSpPr/>
            <p:nvPr/>
          </p:nvSpPr>
          <p:spPr>
            <a:xfrm flipH="false" flipV="false" rot="0">
              <a:off x="0" y="0"/>
              <a:ext cx="60710" cy="330485"/>
            </a:xfrm>
            <a:custGeom>
              <a:avLst/>
              <a:gdLst/>
              <a:ahLst/>
              <a:cxnLst/>
              <a:rect r="r" b="b" t="t" l="l"/>
              <a:pathLst>
                <a:path h="330485" w="60710">
                  <a:moveTo>
                    <a:pt x="30355" y="0"/>
                  </a:moveTo>
                  <a:lnTo>
                    <a:pt x="30355" y="0"/>
                  </a:lnTo>
                  <a:cubicBezTo>
                    <a:pt x="47119" y="0"/>
                    <a:pt x="60710" y="13590"/>
                    <a:pt x="60710" y="30355"/>
                  </a:cubicBezTo>
                  <a:lnTo>
                    <a:pt x="60710" y="300130"/>
                  </a:lnTo>
                  <a:cubicBezTo>
                    <a:pt x="60710" y="308180"/>
                    <a:pt x="57512" y="315901"/>
                    <a:pt x="51819" y="321594"/>
                  </a:cubicBezTo>
                  <a:cubicBezTo>
                    <a:pt x="46126" y="327286"/>
                    <a:pt x="38406" y="330485"/>
                    <a:pt x="30355" y="330485"/>
                  </a:cubicBezTo>
                  <a:lnTo>
                    <a:pt x="30355" y="330485"/>
                  </a:lnTo>
                  <a:cubicBezTo>
                    <a:pt x="13590" y="330485"/>
                    <a:pt x="0" y="316894"/>
                    <a:pt x="0" y="300130"/>
                  </a:cubicBezTo>
                  <a:lnTo>
                    <a:pt x="0" y="30355"/>
                  </a:lnTo>
                  <a:cubicBezTo>
                    <a:pt x="0" y="22304"/>
                    <a:pt x="3198" y="14583"/>
                    <a:pt x="8891" y="8891"/>
                  </a:cubicBezTo>
                  <a:cubicBezTo>
                    <a:pt x="14583" y="3198"/>
                    <a:pt x="22304" y="0"/>
                    <a:pt x="30355" y="0"/>
                  </a:cubicBezTo>
                  <a:close/>
                </a:path>
              </a:pathLst>
            </a:custGeom>
            <a:solidFill>
              <a:srgbClr val="21C2D1"/>
            </a:solidFill>
          </p:spPr>
        </p:sp>
        <p:sp>
          <p:nvSpPr>
            <p:cNvPr name="TextBox 10" id="10"/>
            <p:cNvSpPr txBox="true"/>
            <p:nvPr/>
          </p:nvSpPr>
          <p:spPr>
            <a:xfrm>
              <a:off x="0" y="-47625"/>
              <a:ext cx="60710" cy="378110"/>
            </a:xfrm>
            <a:prstGeom prst="rect">
              <a:avLst/>
            </a:prstGeom>
          </p:spPr>
          <p:txBody>
            <a:bodyPr anchor="ctr" rtlCol="false" tIns="0" lIns="0" bIns="0" rIns="0"/>
            <a:lstStyle/>
            <a:p>
              <a:pPr algn="ctr">
                <a:lnSpc>
                  <a:spcPts val="3009"/>
                </a:lnSpc>
              </a:pPr>
            </a:p>
          </p:txBody>
        </p:sp>
      </p:grpSp>
      <p:grpSp>
        <p:nvGrpSpPr>
          <p:cNvPr name="Group 11" id="11"/>
          <p:cNvGrpSpPr/>
          <p:nvPr/>
        </p:nvGrpSpPr>
        <p:grpSpPr>
          <a:xfrm rot="0">
            <a:off x="1205058" y="5324167"/>
            <a:ext cx="257730" cy="1402996"/>
            <a:chOff x="0" y="0"/>
            <a:chExt cx="60710" cy="330485"/>
          </a:xfrm>
        </p:grpSpPr>
        <p:sp>
          <p:nvSpPr>
            <p:cNvPr name="Freeform 12" id="12"/>
            <p:cNvSpPr/>
            <p:nvPr/>
          </p:nvSpPr>
          <p:spPr>
            <a:xfrm flipH="false" flipV="false" rot="0">
              <a:off x="0" y="0"/>
              <a:ext cx="60710" cy="330485"/>
            </a:xfrm>
            <a:custGeom>
              <a:avLst/>
              <a:gdLst/>
              <a:ahLst/>
              <a:cxnLst/>
              <a:rect r="r" b="b" t="t" l="l"/>
              <a:pathLst>
                <a:path h="330485" w="60710">
                  <a:moveTo>
                    <a:pt x="30355" y="0"/>
                  </a:moveTo>
                  <a:lnTo>
                    <a:pt x="30355" y="0"/>
                  </a:lnTo>
                  <a:cubicBezTo>
                    <a:pt x="47119" y="0"/>
                    <a:pt x="60710" y="13590"/>
                    <a:pt x="60710" y="30355"/>
                  </a:cubicBezTo>
                  <a:lnTo>
                    <a:pt x="60710" y="300130"/>
                  </a:lnTo>
                  <a:cubicBezTo>
                    <a:pt x="60710" y="308180"/>
                    <a:pt x="57512" y="315901"/>
                    <a:pt x="51819" y="321594"/>
                  </a:cubicBezTo>
                  <a:cubicBezTo>
                    <a:pt x="46126" y="327286"/>
                    <a:pt x="38406" y="330485"/>
                    <a:pt x="30355" y="330485"/>
                  </a:cubicBezTo>
                  <a:lnTo>
                    <a:pt x="30355" y="330485"/>
                  </a:lnTo>
                  <a:cubicBezTo>
                    <a:pt x="13590" y="330485"/>
                    <a:pt x="0" y="316894"/>
                    <a:pt x="0" y="300130"/>
                  </a:cubicBezTo>
                  <a:lnTo>
                    <a:pt x="0" y="30355"/>
                  </a:lnTo>
                  <a:cubicBezTo>
                    <a:pt x="0" y="22304"/>
                    <a:pt x="3198" y="14583"/>
                    <a:pt x="8891" y="8891"/>
                  </a:cubicBezTo>
                  <a:cubicBezTo>
                    <a:pt x="14583" y="3198"/>
                    <a:pt x="22304" y="0"/>
                    <a:pt x="30355" y="0"/>
                  </a:cubicBezTo>
                  <a:close/>
                </a:path>
              </a:pathLst>
            </a:custGeom>
            <a:solidFill>
              <a:srgbClr val="E82D8F"/>
            </a:solidFill>
          </p:spPr>
        </p:sp>
        <p:sp>
          <p:nvSpPr>
            <p:cNvPr name="TextBox 13" id="13"/>
            <p:cNvSpPr txBox="true"/>
            <p:nvPr/>
          </p:nvSpPr>
          <p:spPr>
            <a:xfrm>
              <a:off x="0" y="-47625"/>
              <a:ext cx="60710" cy="378110"/>
            </a:xfrm>
            <a:prstGeom prst="rect">
              <a:avLst/>
            </a:prstGeom>
          </p:spPr>
          <p:txBody>
            <a:bodyPr anchor="ctr" rtlCol="false" tIns="0" lIns="0" bIns="0" rIns="0"/>
            <a:lstStyle/>
            <a:p>
              <a:pPr algn="ctr">
                <a:lnSpc>
                  <a:spcPts val="3009"/>
                </a:lnSpc>
              </a:pPr>
            </a:p>
          </p:txBody>
        </p:sp>
      </p:grpSp>
      <p:grpSp>
        <p:nvGrpSpPr>
          <p:cNvPr name="Group 14" id="14"/>
          <p:cNvGrpSpPr/>
          <p:nvPr/>
        </p:nvGrpSpPr>
        <p:grpSpPr>
          <a:xfrm rot="0">
            <a:off x="1205058" y="7014710"/>
            <a:ext cx="257730" cy="1402996"/>
            <a:chOff x="0" y="0"/>
            <a:chExt cx="60710" cy="330485"/>
          </a:xfrm>
        </p:grpSpPr>
        <p:sp>
          <p:nvSpPr>
            <p:cNvPr name="Freeform 15" id="15"/>
            <p:cNvSpPr/>
            <p:nvPr/>
          </p:nvSpPr>
          <p:spPr>
            <a:xfrm flipH="false" flipV="false" rot="0">
              <a:off x="0" y="0"/>
              <a:ext cx="60710" cy="330485"/>
            </a:xfrm>
            <a:custGeom>
              <a:avLst/>
              <a:gdLst/>
              <a:ahLst/>
              <a:cxnLst/>
              <a:rect r="r" b="b" t="t" l="l"/>
              <a:pathLst>
                <a:path h="330485" w="60710">
                  <a:moveTo>
                    <a:pt x="30355" y="0"/>
                  </a:moveTo>
                  <a:lnTo>
                    <a:pt x="30355" y="0"/>
                  </a:lnTo>
                  <a:cubicBezTo>
                    <a:pt x="47119" y="0"/>
                    <a:pt x="60710" y="13590"/>
                    <a:pt x="60710" y="30355"/>
                  </a:cubicBezTo>
                  <a:lnTo>
                    <a:pt x="60710" y="300130"/>
                  </a:lnTo>
                  <a:cubicBezTo>
                    <a:pt x="60710" y="308180"/>
                    <a:pt x="57512" y="315901"/>
                    <a:pt x="51819" y="321594"/>
                  </a:cubicBezTo>
                  <a:cubicBezTo>
                    <a:pt x="46126" y="327286"/>
                    <a:pt x="38406" y="330485"/>
                    <a:pt x="30355" y="330485"/>
                  </a:cubicBezTo>
                  <a:lnTo>
                    <a:pt x="30355" y="330485"/>
                  </a:lnTo>
                  <a:cubicBezTo>
                    <a:pt x="13590" y="330485"/>
                    <a:pt x="0" y="316894"/>
                    <a:pt x="0" y="300130"/>
                  </a:cubicBezTo>
                  <a:lnTo>
                    <a:pt x="0" y="30355"/>
                  </a:lnTo>
                  <a:cubicBezTo>
                    <a:pt x="0" y="22304"/>
                    <a:pt x="3198" y="14583"/>
                    <a:pt x="8891" y="8891"/>
                  </a:cubicBezTo>
                  <a:cubicBezTo>
                    <a:pt x="14583" y="3198"/>
                    <a:pt x="22304" y="0"/>
                    <a:pt x="30355" y="0"/>
                  </a:cubicBezTo>
                  <a:close/>
                </a:path>
              </a:pathLst>
            </a:custGeom>
            <a:solidFill>
              <a:srgbClr val="610C9E"/>
            </a:solidFill>
          </p:spPr>
        </p:sp>
        <p:sp>
          <p:nvSpPr>
            <p:cNvPr name="TextBox 16" id="16"/>
            <p:cNvSpPr txBox="true"/>
            <p:nvPr/>
          </p:nvSpPr>
          <p:spPr>
            <a:xfrm>
              <a:off x="0" y="-47625"/>
              <a:ext cx="60710" cy="378110"/>
            </a:xfrm>
            <a:prstGeom prst="rect">
              <a:avLst/>
            </a:prstGeom>
          </p:spPr>
          <p:txBody>
            <a:bodyPr anchor="ctr" rtlCol="false" tIns="0" lIns="0" bIns="0" rIns="0"/>
            <a:lstStyle/>
            <a:p>
              <a:pPr algn="ctr">
                <a:lnSpc>
                  <a:spcPts val="3009"/>
                </a:lnSpc>
              </a:pPr>
            </a:p>
          </p:txBody>
        </p:sp>
      </p:grpSp>
      <p:sp>
        <p:nvSpPr>
          <p:cNvPr name="Freeform 17" id="17"/>
          <p:cNvSpPr/>
          <p:nvPr/>
        </p:nvSpPr>
        <p:spPr>
          <a:xfrm flipH="false" flipV="false" rot="1954673">
            <a:off x="1334174" y="8865824"/>
            <a:ext cx="1738685" cy="2433274"/>
          </a:xfrm>
          <a:custGeom>
            <a:avLst/>
            <a:gdLst/>
            <a:ahLst/>
            <a:cxnLst/>
            <a:rect r="r" b="b" t="t" l="l"/>
            <a:pathLst>
              <a:path h="2433274" w="1738685">
                <a:moveTo>
                  <a:pt x="0" y="0"/>
                </a:moveTo>
                <a:lnTo>
                  <a:pt x="1738685" y="0"/>
                </a:lnTo>
                <a:lnTo>
                  <a:pt x="1738685" y="2433274"/>
                </a:lnTo>
                <a:lnTo>
                  <a:pt x="0" y="243327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0">
            <a:off x="-875560" y="7515252"/>
            <a:ext cx="2338348" cy="2771748"/>
          </a:xfrm>
          <a:custGeom>
            <a:avLst/>
            <a:gdLst/>
            <a:ahLst/>
            <a:cxnLst/>
            <a:rect r="r" b="b" t="t" l="l"/>
            <a:pathLst>
              <a:path h="2771748" w="2338348">
                <a:moveTo>
                  <a:pt x="0" y="0"/>
                </a:moveTo>
                <a:lnTo>
                  <a:pt x="2338348" y="0"/>
                </a:lnTo>
                <a:lnTo>
                  <a:pt x="2338348" y="2771748"/>
                </a:lnTo>
                <a:lnTo>
                  <a:pt x="0" y="277174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9" id="19"/>
          <p:cNvSpPr txBox="true"/>
          <p:nvPr/>
        </p:nvSpPr>
        <p:spPr>
          <a:xfrm rot="0">
            <a:off x="1668655" y="3662200"/>
            <a:ext cx="7455198" cy="1487972"/>
          </a:xfrm>
          <a:prstGeom prst="rect">
            <a:avLst/>
          </a:prstGeom>
        </p:spPr>
        <p:txBody>
          <a:bodyPr anchor="t" rtlCol="false" tIns="0" lIns="0" bIns="0" rIns="0">
            <a:spAutoFit/>
          </a:bodyPr>
          <a:lstStyle/>
          <a:p>
            <a:pPr algn="l">
              <a:lnSpc>
                <a:spcPts val="2976"/>
              </a:lnSpc>
            </a:pPr>
            <a:r>
              <a:rPr lang="en-US" sz="2681" spc="128" b="true">
                <a:solidFill>
                  <a:srgbClr val="202330"/>
                </a:solidFill>
                <a:latin typeface="Nunito Bold"/>
                <a:ea typeface="Nunito Bold"/>
                <a:cs typeface="Nunito Bold"/>
                <a:sym typeface="Nunito Bold"/>
              </a:rPr>
              <a:t>Predict Outbreak Hotspots</a:t>
            </a:r>
          </a:p>
          <a:p>
            <a:pPr algn="l" marL="0" indent="0" lvl="1">
              <a:lnSpc>
                <a:spcPts val="2976"/>
              </a:lnSpc>
            </a:pPr>
            <a:r>
              <a:rPr lang="en-US" sz="2681" spc="128">
                <a:solidFill>
                  <a:srgbClr val="202330"/>
                </a:solidFill>
                <a:latin typeface="Nunito"/>
                <a:ea typeface="Nunito"/>
                <a:cs typeface="Nunito"/>
                <a:sym typeface="Nunito"/>
              </a:rPr>
              <a:t>Identify geographical areas at high risk using multi-source data analysis and advanced forecasting models.</a:t>
            </a:r>
          </a:p>
        </p:txBody>
      </p:sp>
      <p:sp>
        <p:nvSpPr>
          <p:cNvPr name="TextBox 20" id="20"/>
          <p:cNvSpPr txBox="true"/>
          <p:nvPr/>
        </p:nvSpPr>
        <p:spPr>
          <a:xfrm rot="0">
            <a:off x="1668655" y="7043285"/>
            <a:ext cx="7455198" cy="1487972"/>
          </a:xfrm>
          <a:prstGeom prst="rect">
            <a:avLst/>
          </a:prstGeom>
        </p:spPr>
        <p:txBody>
          <a:bodyPr anchor="t" rtlCol="false" tIns="0" lIns="0" bIns="0" rIns="0">
            <a:spAutoFit/>
          </a:bodyPr>
          <a:lstStyle/>
          <a:p>
            <a:pPr algn="l">
              <a:lnSpc>
                <a:spcPts val="2976"/>
              </a:lnSpc>
            </a:pPr>
            <a:r>
              <a:rPr lang="en-US" sz="2681" spc="128" b="true">
                <a:solidFill>
                  <a:srgbClr val="202330"/>
                </a:solidFill>
                <a:latin typeface="Nunito Bold"/>
                <a:ea typeface="Nunito Bold"/>
                <a:cs typeface="Nunito Bold"/>
                <a:sym typeface="Nunito Bold"/>
              </a:rPr>
              <a:t>Monitor Critical Resources</a:t>
            </a:r>
          </a:p>
          <a:p>
            <a:pPr algn="l" marL="0" indent="0" lvl="1">
              <a:lnSpc>
                <a:spcPts val="2976"/>
              </a:lnSpc>
            </a:pPr>
            <a:r>
              <a:rPr lang="en-US" sz="2681" spc="128">
                <a:solidFill>
                  <a:srgbClr val="202330"/>
                </a:solidFill>
                <a:latin typeface="Nunito"/>
                <a:ea typeface="Nunito"/>
                <a:cs typeface="Nunito"/>
                <a:sym typeface="Nunito"/>
              </a:rPr>
              <a:t>Track real-time availability of hospital beds, essential medicines, and medical supplies across facilities.</a:t>
            </a:r>
          </a:p>
        </p:txBody>
      </p:sp>
      <p:sp>
        <p:nvSpPr>
          <p:cNvPr name="TextBox 21" id="21"/>
          <p:cNvSpPr txBox="true"/>
          <p:nvPr/>
        </p:nvSpPr>
        <p:spPr>
          <a:xfrm rot="0">
            <a:off x="1205058" y="1154265"/>
            <a:ext cx="6229180" cy="1114875"/>
          </a:xfrm>
          <a:prstGeom prst="rect">
            <a:avLst/>
          </a:prstGeom>
        </p:spPr>
        <p:txBody>
          <a:bodyPr anchor="t" rtlCol="false" tIns="0" lIns="0" bIns="0" rIns="0">
            <a:spAutoFit/>
          </a:bodyPr>
          <a:lstStyle/>
          <a:p>
            <a:pPr algn="l" marL="0" indent="0" lvl="0">
              <a:lnSpc>
                <a:spcPts val="9118"/>
              </a:lnSpc>
              <a:spcBef>
                <a:spcPct val="0"/>
              </a:spcBef>
            </a:pPr>
            <a:r>
              <a:rPr lang="en-US" b="true" sz="6513">
                <a:solidFill>
                  <a:srgbClr val="610C9E"/>
                </a:solidFill>
                <a:latin typeface="Luktao Bold"/>
                <a:ea typeface="Luktao Bold"/>
                <a:cs typeface="Luktao Bold"/>
                <a:sym typeface="Luktao Bold"/>
              </a:rPr>
              <a:t>Pro</a:t>
            </a:r>
            <a:r>
              <a:rPr lang="en-US" b="true" sz="6513" strike="noStrike" u="none">
                <a:solidFill>
                  <a:srgbClr val="610C9E"/>
                </a:solidFill>
                <a:latin typeface="Luktao Bold"/>
                <a:ea typeface="Luktao Bold"/>
                <a:cs typeface="Luktao Bold"/>
                <a:sym typeface="Luktao Bold"/>
              </a:rPr>
              <a:t>ject</a:t>
            </a:r>
          </a:p>
        </p:txBody>
      </p:sp>
      <p:sp>
        <p:nvSpPr>
          <p:cNvPr name="TextBox 22" id="22"/>
          <p:cNvSpPr txBox="true"/>
          <p:nvPr/>
        </p:nvSpPr>
        <p:spPr>
          <a:xfrm rot="0">
            <a:off x="1205058" y="1865646"/>
            <a:ext cx="6711623" cy="1595524"/>
          </a:xfrm>
          <a:prstGeom prst="rect">
            <a:avLst/>
          </a:prstGeom>
        </p:spPr>
        <p:txBody>
          <a:bodyPr anchor="t" rtlCol="false" tIns="0" lIns="0" bIns="0" rIns="0">
            <a:spAutoFit/>
          </a:bodyPr>
          <a:lstStyle/>
          <a:p>
            <a:pPr algn="l" marL="0" indent="0" lvl="0">
              <a:lnSpc>
                <a:spcPts val="13014"/>
              </a:lnSpc>
              <a:spcBef>
                <a:spcPct val="0"/>
              </a:spcBef>
            </a:pPr>
            <a:r>
              <a:rPr lang="en-US" b="true" sz="9296">
                <a:solidFill>
                  <a:srgbClr val="FFAE39"/>
                </a:solidFill>
                <a:latin typeface="Luktao Bold"/>
                <a:ea typeface="Luktao Bold"/>
                <a:cs typeface="Luktao Bold"/>
                <a:sym typeface="Luktao Bold"/>
              </a:rPr>
              <a:t>objectives</a:t>
            </a:r>
          </a:p>
        </p:txBody>
      </p:sp>
      <p:sp>
        <p:nvSpPr>
          <p:cNvPr name="TextBox 23" id="23"/>
          <p:cNvSpPr txBox="true"/>
          <p:nvPr/>
        </p:nvSpPr>
        <p:spPr>
          <a:xfrm rot="0">
            <a:off x="1668655" y="5352742"/>
            <a:ext cx="7455198" cy="1859447"/>
          </a:xfrm>
          <a:prstGeom prst="rect">
            <a:avLst/>
          </a:prstGeom>
        </p:spPr>
        <p:txBody>
          <a:bodyPr anchor="t" rtlCol="false" tIns="0" lIns="0" bIns="0" rIns="0">
            <a:spAutoFit/>
          </a:bodyPr>
          <a:lstStyle/>
          <a:p>
            <a:pPr algn="l">
              <a:lnSpc>
                <a:spcPts val="2976"/>
              </a:lnSpc>
            </a:pPr>
            <a:r>
              <a:rPr lang="en-US" sz="2681" spc="128" b="true">
                <a:solidFill>
                  <a:srgbClr val="202330"/>
                </a:solidFill>
                <a:latin typeface="Nunito Bold"/>
                <a:ea typeface="Nunito Bold"/>
                <a:cs typeface="Nunito Bold"/>
                <a:sym typeface="Nunito Bold"/>
              </a:rPr>
              <a:t>Enable Actionable Intelligence</a:t>
            </a:r>
          </a:p>
          <a:p>
            <a:pPr algn="l">
              <a:lnSpc>
                <a:spcPts val="2976"/>
              </a:lnSpc>
            </a:pPr>
            <a:r>
              <a:rPr lang="en-US" sz="2681" spc="128">
                <a:solidFill>
                  <a:srgbClr val="202330"/>
                </a:solidFill>
                <a:latin typeface="Nunito"/>
                <a:ea typeface="Nunito"/>
                <a:cs typeface="Nunito"/>
                <a:sym typeface="Nunito"/>
              </a:rPr>
              <a:t>Deliver insights through an intuitive, interactive mapping interface that supports rapid decision-making.</a:t>
            </a:r>
          </a:p>
          <a:p>
            <a:pPr algn="l" marL="0" indent="0" lvl="1">
              <a:lnSpc>
                <a:spcPts val="2976"/>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610C9E"/>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0637564" y="2473893"/>
            <a:ext cx="6621736" cy="6621736"/>
            <a:chOff x="0" y="0"/>
            <a:chExt cx="14840029" cy="14840029"/>
          </a:xfrm>
        </p:grpSpPr>
        <p:sp>
          <p:nvSpPr>
            <p:cNvPr name="Freeform 3" id="3"/>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FFFFFF"/>
            </a:solidFill>
          </p:spPr>
        </p:sp>
        <p:sp>
          <p:nvSpPr>
            <p:cNvPr name="Freeform 4" id="4"/>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610C9E"/>
            </a:solidFill>
          </p:spPr>
        </p:sp>
        <p:sp>
          <p:nvSpPr>
            <p:cNvPr name="Freeform 5" id="5"/>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2"/>
              <a:stretch>
                <a:fillRect l="-24665" t="0" r="-24665" b="0"/>
              </a:stretch>
            </a:blipFill>
          </p:spPr>
        </p:sp>
      </p:grpSp>
      <p:sp>
        <p:nvSpPr>
          <p:cNvPr name="Freeform 6" id="6"/>
          <p:cNvSpPr/>
          <p:nvPr/>
        </p:nvSpPr>
        <p:spPr>
          <a:xfrm flipH="false" flipV="false" rot="-1140985">
            <a:off x="15464315" y="8265131"/>
            <a:ext cx="2978071" cy="2577385"/>
          </a:xfrm>
          <a:custGeom>
            <a:avLst/>
            <a:gdLst/>
            <a:ahLst/>
            <a:cxnLst/>
            <a:rect r="r" b="b" t="t" l="l"/>
            <a:pathLst>
              <a:path h="2577385" w="2978071">
                <a:moveTo>
                  <a:pt x="0" y="0"/>
                </a:moveTo>
                <a:lnTo>
                  <a:pt x="2978071" y="0"/>
                </a:lnTo>
                <a:lnTo>
                  <a:pt x="2978071" y="2577385"/>
                </a:lnTo>
                <a:lnTo>
                  <a:pt x="0" y="257738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8877221">
            <a:off x="-980167" y="-157729"/>
            <a:ext cx="2978071" cy="2577385"/>
          </a:xfrm>
          <a:custGeom>
            <a:avLst/>
            <a:gdLst/>
            <a:ahLst/>
            <a:cxnLst/>
            <a:rect r="r" b="b" t="t" l="l"/>
            <a:pathLst>
              <a:path h="2577385" w="2978071">
                <a:moveTo>
                  <a:pt x="0" y="0"/>
                </a:moveTo>
                <a:lnTo>
                  <a:pt x="2978071" y="0"/>
                </a:lnTo>
                <a:lnTo>
                  <a:pt x="2978071" y="2577385"/>
                </a:lnTo>
                <a:lnTo>
                  <a:pt x="0" y="257738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9767253">
            <a:off x="16485014" y="-806396"/>
            <a:ext cx="2758605" cy="3269898"/>
          </a:xfrm>
          <a:custGeom>
            <a:avLst/>
            <a:gdLst/>
            <a:ahLst/>
            <a:cxnLst/>
            <a:rect r="r" b="b" t="t" l="l"/>
            <a:pathLst>
              <a:path h="3269898" w="2758605">
                <a:moveTo>
                  <a:pt x="0" y="0"/>
                </a:moveTo>
                <a:lnTo>
                  <a:pt x="2758605" y="0"/>
                </a:lnTo>
                <a:lnTo>
                  <a:pt x="2758605" y="3269898"/>
                </a:lnTo>
                <a:lnTo>
                  <a:pt x="0" y="32698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387500">
            <a:off x="13100842" y="9210626"/>
            <a:ext cx="2160916" cy="2058764"/>
          </a:xfrm>
          <a:custGeom>
            <a:avLst/>
            <a:gdLst/>
            <a:ahLst/>
            <a:cxnLst/>
            <a:rect r="r" b="b" t="t" l="l"/>
            <a:pathLst>
              <a:path h="2058764" w="2160916">
                <a:moveTo>
                  <a:pt x="0" y="0"/>
                </a:moveTo>
                <a:lnTo>
                  <a:pt x="2160916" y="0"/>
                </a:lnTo>
                <a:lnTo>
                  <a:pt x="2160916" y="2058764"/>
                </a:lnTo>
                <a:lnTo>
                  <a:pt x="0" y="205876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9630705">
            <a:off x="1974381" y="-1191920"/>
            <a:ext cx="2160916" cy="2058764"/>
          </a:xfrm>
          <a:custGeom>
            <a:avLst/>
            <a:gdLst/>
            <a:ahLst/>
            <a:cxnLst/>
            <a:rect r="r" b="b" t="t" l="l"/>
            <a:pathLst>
              <a:path h="2058764" w="2160916">
                <a:moveTo>
                  <a:pt x="0" y="0"/>
                </a:moveTo>
                <a:lnTo>
                  <a:pt x="2160916" y="0"/>
                </a:lnTo>
                <a:lnTo>
                  <a:pt x="2160916" y="2058764"/>
                </a:lnTo>
                <a:lnTo>
                  <a:pt x="0" y="205876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10136346">
            <a:off x="12892438" y="-1130226"/>
            <a:ext cx="3404180" cy="2376736"/>
          </a:xfrm>
          <a:custGeom>
            <a:avLst/>
            <a:gdLst/>
            <a:ahLst/>
            <a:cxnLst/>
            <a:rect r="r" b="b" t="t" l="l"/>
            <a:pathLst>
              <a:path h="2376736" w="3404180">
                <a:moveTo>
                  <a:pt x="0" y="0"/>
                </a:moveTo>
                <a:lnTo>
                  <a:pt x="3404179" y="0"/>
                </a:lnTo>
                <a:lnTo>
                  <a:pt x="3404179" y="2376736"/>
                </a:lnTo>
                <a:lnTo>
                  <a:pt x="0" y="237673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2" id="12"/>
          <p:cNvSpPr txBox="true"/>
          <p:nvPr/>
        </p:nvSpPr>
        <p:spPr>
          <a:xfrm rot="0">
            <a:off x="2836148" y="3483932"/>
            <a:ext cx="6860513" cy="2492060"/>
          </a:xfrm>
          <a:prstGeom prst="rect">
            <a:avLst/>
          </a:prstGeom>
        </p:spPr>
        <p:txBody>
          <a:bodyPr anchor="t" rtlCol="false" tIns="0" lIns="0" bIns="0" rIns="0">
            <a:spAutoFit/>
          </a:bodyPr>
          <a:lstStyle/>
          <a:p>
            <a:pPr algn="l">
              <a:lnSpc>
                <a:spcPts val="3342"/>
              </a:lnSpc>
            </a:pPr>
            <a:r>
              <a:rPr lang="en-US" sz="2387" spc="114">
                <a:solidFill>
                  <a:srgbClr val="FFF6EA"/>
                </a:solidFill>
                <a:latin typeface="Nunito"/>
                <a:ea typeface="Nunito"/>
                <a:cs typeface="Nunito"/>
                <a:sym typeface="Nunito"/>
              </a:rPr>
              <a:t>Environmental Data</a:t>
            </a:r>
          </a:p>
          <a:p>
            <a:pPr algn="l">
              <a:lnSpc>
                <a:spcPts val="3342"/>
              </a:lnSpc>
            </a:pPr>
            <a:r>
              <a:rPr lang="en-US" sz="2387" spc="114">
                <a:solidFill>
                  <a:srgbClr val="FFF6EA"/>
                </a:solidFill>
                <a:latin typeface="Nunito"/>
                <a:ea typeface="Nunito"/>
                <a:cs typeface="Nunito"/>
                <a:sym typeface="Nunito"/>
              </a:rPr>
              <a:t>Weather patterns, humidity, temperature, and rainfall data from OpenWeather API to identify conditions favourable for disease vector proliferation.</a:t>
            </a:r>
          </a:p>
          <a:p>
            <a:pPr algn="l" marL="0" indent="0" lvl="1">
              <a:lnSpc>
                <a:spcPts val="3342"/>
              </a:lnSpc>
              <a:spcBef>
                <a:spcPct val="0"/>
              </a:spcBef>
            </a:pPr>
          </a:p>
        </p:txBody>
      </p:sp>
      <p:sp>
        <p:nvSpPr>
          <p:cNvPr name="TextBox 13" id="13"/>
          <p:cNvSpPr txBox="true"/>
          <p:nvPr/>
        </p:nvSpPr>
        <p:spPr>
          <a:xfrm rot="0">
            <a:off x="1440581" y="3398207"/>
            <a:ext cx="1014209" cy="1127419"/>
          </a:xfrm>
          <a:prstGeom prst="rect">
            <a:avLst/>
          </a:prstGeom>
        </p:spPr>
        <p:txBody>
          <a:bodyPr anchor="t" rtlCol="false" tIns="0" lIns="0" bIns="0" rIns="0">
            <a:spAutoFit/>
          </a:bodyPr>
          <a:lstStyle/>
          <a:p>
            <a:pPr algn="ctr" marL="0" indent="0" lvl="0">
              <a:lnSpc>
                <a:spcPts val="9258"/>
              </a:lnSpc>
              <a:spcBef>
                <a:spcPct val="0"/>
              </a:spcBef>
            </a:pPr>
            <a:r>
              <a:rPr lang="en-US" b="true" sz="6613">
                <a:solidFill>
                  <a:srgbClr val="FC54A1"/>
                </a:solidFill>
                <a:latin typeface="Luktao Bold"/>
                <a:ea typeface="Luktao Bold"/>
                <a:cs typeface="Luktao Bold"/>
                <a:sym typeface="Luktao Bold"/>
              </a:rPr>
              <a:t>01</a:t>
            </a:r>
          </a:p>
        </p:txBody>
      </p:sp>
      <p:sp>
        <p:nvSpPr>
          <p:cNvPr name="TextBox 14" id="14"/>
          <p:cNvSpPr txBox="true"/>
          <p:nvPr/>
        </p:nvSpPr>
        <p:spPr>
          <a:xfrm rot="0">
            <a:off x="1440581" y="5895875"/>
            <a:ext cx="1014209" cy="1127419"/>
          </a:xfrm>
          <a:prstGeom prst="rect">
            <a:avLst/>
          </a:prstGeom>
        </p:spPr>
        <p:txBody>
          <a:bodyPr anchor="t" rtlCol="false" tIns="0" lIns="0" bIns="0" rIns="0">
            <a:spAutoFit/>
          </a:bodyPr>
          <a:lstStyle/>
          <a:p>
            <a:pPr algn="ctr" marL="0" indent="0" lvl="0">
              <a:lnSpc>
                <a:spcPts val="9258"/>
              </a:lnSpc>
              <a:spcBef>
                <a:spcPct val="0"/>
              </a:spcBef>
            </a:pPr>
            <a:r>
              <a:rPr lang="en-US" b="true" sz="6613">
                <a:solidFill>
                  <a:srgbClr val="FC54A1"/>
                </a:solidFill>
                <a:latin typeface="Luktao Bold"/>
                <a:ea typeface="Luktao Bold"/>
                <a:cs typeface="Luktao Bold"/>
                <a:sym typeface="Luktao Bold"/>
              </a:rPr>
              <a:t>02</a:t>
            </a:r>
          </a:p>
        </p:txBody>
      </p:sp>
      <p:sp>
        <p:nvSpPr>
          <p:cNvPr name="TextBox 15" id="15"/>
          <p:cNvSpPr txBox="true"/>
          <p:nvPr/>
        </p:nvSpPr>
        <p:spPr>
          <a:xfrm rot="0">
            <a:off x="2325762" y="904875"/>
            <a:ext cx="11622671" cy="3315986"/>
          </a:xfrm>
          <a:prstGeom prst="rect">
            <a:avLst/>
          </a:prstGeom>
        </p:spPr>
        <p:txBody>
          <a:bodyPr anchor="t" rtlCol="false" tIns="0" lIns="0" bIns="0" rIns="0">
            <a:spAutoFit/>
          </a:bodyPr>
          <a:lstStyle/>
          <a:p>
            <a:pPr algn="l">
              <a:lnSpc>
                <a:spcPts val="8836"/>
              </a:lnSpc>
            </a:pPr>
            <a:r>
              <a:rPr lang="en-US" sz="6311" b="true">
                <a:solidFill>
                  <a:srgbClr val="FFF6EA"/>
                </a:solidFill>
                <a:latin typeface="Luktao Bold"/>
                <a:ea typeface="Luktao Bold"/>
                <a:cs typeface="Luktao Bold"/>
                <a:sym typeface="Luktao Bold"/>
              </a:rPr>
              <a:t>Data Sources Powering Our Intelligence</a:t>
            </a:r>
          </a:p>
          <a:p>
            <a:pPr algn="l">
              <a:lnSpc>
                <a:spcPts val="8836"/>
              </a:lnSpc>
            </a:pPr>
          </a:p>
        </p:txBody>
      </p:sp>
      <p:sp>
        <p:nvSpPr>
          <p:cNvPr name="TextBox 16" id="16"/>
          <p:cNvSpPr txBox="true"/>
          <p:nvPr/>
        </p:nvSpPr>
        <p:spPr>
          <a:xfrm rot="0">
            <a:off x="2836148" y="5981600"/>
            <a:ext cx="6860513" cy="2380300"/>
          </a:xfrm>
          <a:prstGeom prst="rect">
            <a:avLst/>
          </a:prstGeom>
        </p:spPr>
        <p:txBody>
          <a:bodyPr anchor="t" rtlCol="false" tIns="0" lIns="0" bIns="0" rIns="0">
            <a:spAutoFit/>
          </a:bodyPr>
          <a:lstStyle/>
          <a:p>
            <a:pPr algn="l">
              <a:lnSpc>
                <a:spcPts val="3202"/>
              </a:lnSpc>
            </a:pPr>
            <a:r>
              <a:rPr lang="en-US" sz="2287" spc="109">
                <a:solidFill>
                  <a:srgbClr val="FFF6EA"/>
                </a:solidFill>
                <a:latin typeface="Nunito"/>
                <a:ea typeface="Nunito"/>
                <a:cs typeface="Nunito"/>
                <a:sym typeface="Nunito"/>
              </a:rPr>
              <a:t>Social Sentiment</a:t>
            </a:r>
          </a:p>
          <a:p>
            <a:pPr algn="l">
              <a:lnSpc>
                <a:spcPts val="3202"/>
              </a:lnSpc>
            </a:pPr>
            <a:r>
              <a:rPr lang="en-US" sz="2287" spc="109">
                <a:solidFill>
                  <a:srgbClr val="FFF6EA"/>
                </a:solidFill>
                <a:latin typeface="Nunito"/>
                <a:ea typeface="Nunito"/>
                <a:cs typeface="Nunito"/>
                <a:sym typeface="Nunito"/>
              </a:rPr>
              <a:t>Real-time Twitter monitoring and hashtag analysis to detect early outbreak signals and community health concerns before official reporting.</a:t>
            </a:r>
          </a:p>
          <a:p>
            <a:pPr algn="l" marL="0" indent="0" lvl="1">
              <a:lnSpc>
                <a:spcPts val="3202"/>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grpSp>
        <p:nvGrpSpPr>
          <p:cNvPr name="Group 2" id="2"/>
          <p:cNvGrpSpPr/>
          <p:nvPr/>
        </p:nvGrpSpPr>
        <p:grpSpPr>
          <a:xfrm rot="0">
            <a:off x="9684790" y="-249201"/>
            <a:ext cx="8874731" cy="8874731"/>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0" y="0"/>
                  </a:moveTo>
                  <a:cubicBezTo>
                    <a:pt x="0" y="3506470"/>
                    <a:pt x="2843530" y="6350000"/>
                    <a:pt x="6350000" y="6350000"/>
                  </a:cubicBezTo>
                  <a:lnTo>
                    <a:pt x="6350000" y="0"/>
                  </a:lnTo>
                  <a:lnTo>
                    <a:pt x="0" y="0"/>
                  </a:lnTo>
                  <a:close/>
                </a:path>
              </a:pathLst>
            </a:custGeom>
            <a:blipFill>
              <a:blip r:embed="rId2"/>
              <a:stretch>
                <a:fillRect l="-25000" t="0" r="-25000" b="0"/>
              </a:stretch>
            </a:blipFill>
            <a:ln w="200025" cap="sq">
              <a:solidFill>
                <a:srgbClr val="9B33E5"/>
              </a:solidFill>
              <a:prstDash val="solid"/>
              <a:miter/>
            </a:ln>
          </p:spPr>
        </p:sp>
      </p:grpSp>
      <p:sp>
        <p:nvSpPr>
          <p:cNvPr name="Freeform 4" id="4"/>
          <p:cNvSpPr/>
          <p:nvPr/>
        </p:nvSpPr>
        <p:spPr>
          <a:xfrm flipH="false" flipV="false" rot="8100000">
            <a:off x="15703157" y="7698660"/>
            <a:ext cx="3112285" cy="4114800"/>
          </a:xfrm>
          <a:custGeom>
            <a:avLst/>
            <a:gdLst/>
            <a:ahLst/>
            <a:cxnLst/>
            <a:rect r="r" b="b" t="t" l="l"/>
            <a:pathLst>
              <a:path h="4114800" w="3112285">
                <a:moveTo>
                  <a:pt x="0" y="0"/>
                </a:moveTo>
                <a:lnTo>
                  <a:pt x="3112286" y="0"/>
                </a:lnTo>
                <a:lnTo>
                  <a:pt x="3112286"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2700000">
            <a:off x="152381" y="8208551"/>
            <a:ext cx="2745113" cy="3253905"/>
          </a:xfrm>
          <a:custGeom>
            <a:avLst/>
            <a:gdLst/>
            <a:ahLst/>
            <a:cxnLst/>
            <a:rect r="r" b="b" t="t" l="l"/>
            <a:pathLst>
              <a:path h="3253905" w="2745113">
                <a:moveTo>
                  <a:pt x="0" y="0"/>
                </a:moveTo>
                <a:lnTo>
                  <a:pt x="2745113" y="0"/>
                </a:lnTo>
                <a:lnTo>
                  <a:pt x="2745113" y="3253905"/>
                </a:lnTo>
                <a:lnTo>
                  <a:pt x="0" y="325390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2973016">
            <a:off x="-1251415" y="-1175313"/>
            <a:ext cx="3089311" cy="3016291"/>
          </a:xfrm>
          <a:custGeom>
            <a:avLst/>
            <a:gdLst/>
            <a:ahLst/>
            <a:cxnLst/>
            <a:rect r="r" b="b" t="t" l="l"/>
            <a:pathLst>
              <a:path h="3016291" w="3089311">
                <a:moveTo>
                  <a:pt x="0" y="0"/>
                </a:moveTo>
                <a:lnTo>
                  <a:pt x="3089312" y="0"/>
                </a:lnTo>
                <a:lnTo>
                  <a:pt x="3089312" y="3016292"/>
                </a:lnTo>
                <a:lnTo>
                  <a:pt x="0" y="301629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7771053" y="-800809"/>
            <a:ext cx="1372947" cy="3287543"/>
          </a:xfrm>
          <a:prstGeom prst="rect">
            <a:avLst/>
          </a:prstGeom>
        </p:spPr>
        <p:txBody>
          <a:bodyPr anchor="t" rtlCol="false" tIns="0" lIns="0" bIns="0" rIns="0">
            <a:spAutoFit/>
          </a:bodyPr>
          <a:lstStyle/>
          <a:p>
            <a:pPr algn="l" marL="0" indent="0" lvl="1">
              <a:lnSpc>
                <a:spcPts val="26852"/>
              </a:lnSpc>
              <a:spcBef>
                <a:spcPct val="0"/>
              </a:spcBef>
            </a:pPr>
            <a:r>
              <a:rPr lang="en-US" b="true" sz="19180" spc="920" strike="noStrike" u="none">
                <a:solidFill>
                  <a:srgbClr val="9D34E8"/>
                </a:solidFill>
                <a:latin typeface="Luktao Ultra-Bold"/>
                <a:ea typeface="Luktao Ultra-Bold"/>
                <a:cs typeface="Luktao Ultra-Bold"/>
                <a:sym typeface="Luktao Ultra-Bold"/>
              </a:rPr>
              <a:t>+</a:t>
            </a:r>
          </a:p>
        </p:txBody>
      </p:sp>
      <p:sp>
        <p:nvSpPr>
          <p:cNvPr name="TextBox 8" id="8"/>
          <p:cNvSpPr txBox="true"/>
          <p:nvPr/>
        </p:nvSpPr>
        <p:spPr>
          <a:xfrm rot="0">
            <a:off x="9144000" y="1545015"/>
            <a:ext cx="837314" cy="2007011"/>
          </a:xfrm>
          <a:prstGeom prst="rect">
            <a:avLst/>
          </a:prstGeom>
        </p:spPr>
        <p:txBody>
          <a:bodyPr anchor="t" rtlCol="false" tIns="0" lIns="0" bIns="0" rIns="0">
            <a:spAutoFit/>
          </a:bodyPr>
          <a:lstStyle/>
          <a:p>
            <a:pPr algn="l" marL="0" indent="0" lvl="1">
              <a:lnSpc>
                <a:spcPts val="16376"/>
              </a:lnSpc>
              <a:spcBef>
                <a:spcPct val="0"/>
              </a:spcBef>
            </a:pPr>
            <a:r>
              <a:rPr lang="en-US" b="true" sz="11697" spc="561" strike="noStrike" u="none">
                <a:solidFill>
                  <a:srgbClr val="9D34E8"/>
                </a:solidFill>
                <a:latin typeface="Luktao Ultra-Bold"/>
                <a:ea typeface="Luktao Ultra-Bold"/>
                <a:cs typeface="Luktao Ultra-Bold"/>
                <a:sym typeface="Luktao Ultra-Bold"/>
              </a:rPr>
              <a:t>+</a:t>
            </a:r>
          </a:p>
        </p:txBody>
      </p:sp>
      <p:sp>
        <p:nvSpPr>
          <p:cNvPr name="TextBox 9" id="9"/>
          <p:cNvSpPr txBox="true"/>
          <p:nvPr/>
        </p:nvSpPr>
        <p:spPr>
          <a:xfrm rot="0">
            <a:off x="-285750" y="5294521"/>
            <a:ext cx="1168230" cy="2795584"/>
          </a:xfrm>
          <a:prstGeom prst="rect">
            <a:avLst/>
          </a:prstGeom>
        </p:spPr>
        <p:txBody>
          <a:bodyPr anchor="t" rtlCol="false" tIns="0" lIns="0" bIns="0" rIns="0">
            <a:spAutoFit/>
          </a:bodyPr>
          <a:lstStyle/>
          <a:p>
            <a:pPr algn="l" marL="0" indent="0" lvl="1">
              <a:lnSpc>
                <a:spcPts val="22848"/>
              </a:lnSpc>
              <a:spcBef>
                <a:spcPct val="0"/>
              </a:spcBef>
            </a:pPr>
            <a:r>
              <a:rPr lang="en-US" b="true" sz="16320" spc="783" strike="noStrike" u="none">
                <a:solidFill>
                  <a:srgbClr val="9D34E8"/>
                </a:solidFill>
                <a:latin typeface="Luktao Ultra-Bold"/>
                <a:ea typeface="Luktao Ultra-Bold"/>
                <a:cs typeface="Luktao Ultra-Bold"/>
                <a:sym typeface="Luktao Ultra-Bold"/>
              </a:rPr>
              <a:t>+</a:t>
            </a:r>
          </a:p>
        </p:txBody>
      </p:sp>
      <p:sp>
        <p:nvSpPr>
          <p:cNvPr name="TextBox 10" id="10"/>
          <p:cNvSpPr txBox="true"/>
          <p:nvPr/>
        </p:nvSpPr>
        <p:spPr>
          <a:xfrm rot="0">
            <a:off x="13239726" y="7283992"/>
            <a:ext cx="1764858" cy="4215192"/>
          </a:xfrm>
          <a:prstGeom prst="rect">
            <a:avLst/>
          </a:prstGeom>
        </p:spPr>
        <p:txBody>
          <a:bodyPr anchor="t" rtlCol="false" tIns="0" lIns="0" bIns="0" rIns="0">
            <a:spAutoFit/>
          </a:bodyPr>
          <a:lstStyle/>
          <a:p>
            <a:pPr algn="l" marL="0" indent="0" lvl="1">
              <a:lnSpc>
                <a:spcPts val="34518"/>
              </a:lnSpc>
              <a:spcBef>
                <a:spcPct val="0"/>
              </a:spcBef>
            </a:pPr>
            <a:r>
              <a:rPr lang="en-US" b="true" sz="24655" spc="1183" strike="noStrike" u="none">
                <a:solidFill>
                  <a:srgbClr val="9D34E8"/>
                </a:solidFill>
                <a:latin typeface="Luktao Ultra-Bold"/>
                <a:ea typeface="Luktao Ultra-Bold"/>
                <a:cs typeface="Luktao Ultra-Bold"/>
                <a:sym typeface="Luktao Ultra-Bold"/>
              </a:rPr>
              <a:t>+</a:t>
            </a:r>
          </a:p>
        </p:txBody>
      </p:sp>
      <p:sp>
        <p:nvSpPr>
          <p:cNvPr name="TextBox 11" id="11"/>
          <p:cNvSpPr txBox="true"/>
          <p:nvPr/>
        </p:nvSpPr>
        <p:spPr>
          <a:xfrm rot="0">
            <a:off x="1205058" y="1265208"/>
            <a:ext cx="8357599" cy="3212087"/>
          </a:xfrm>
          <a:prstGeom prst="rect">
            <a:avLst/>
          </a:prstGeom>
        </p:spPr>
        <p:txBody>
          <a:bodyPr anchor="t" rtlCol="false" tIns="0" lIns="0" bIns="0" rIns="0">
            <a:spAutoFit/>
          </a:bodyPr>
          <a:lstStyle/>
          <a:p>
            <a:pPr algn="l">
              <a:lnSpc>
                <a:spcPts val="9050"/>
              </a:lnSpc>
            </a:pPr>
            <a:r>
              <a:rPr lang="en-US" sz="6464" b="true">
                <a:solidFill>
                  <a:srgbClr val="610C9E"/>
                </a:solidFill>
                <a:latin typeface="Luktao Bold"/>
                <a:ea typeface="Luktao Bold"/>
                <a:cs typeface="Luktao Bold"/>
                <a:sym typeface="Luktao Bold"/>
              </a:rPr>
              <a:t>System Architecture &amp; Workflow</a:t>
            </a:r>
          </a:p>
          <a:p>
            <a:pPr algn="l" marL="0" indent="0" lvl="0">
              <a:lnSpc>
                <a:spcPts val="7510"/>
              </a:lnSpc>
              <a:spcBef>
                <a:spcPct val="0"/>
              </a:spcBef>
            </a:pPr>
          </a:p>
        </p:txBody>
      </p:sp>
      <p:sp>
        <p:nvSpPr>
          <p:cNvPr name="TextBox 12" id="12"/>
          <p:cNvSpPr txBox="true"/>
          <p:nvPr/>
        </p:nvSpPr>
        <p:spPr>
          <a:xfrm rot="0">
            <a:off x="2654904" y="3765232"/>
            <a:ext cx="6489096" cy="1627172"/>
          </a:xfrm>
          <a:prstGeom prst="rect">
            <a:avLst/>
          </a:prstGeom>
        </p:spPr>
        <p:txBody>
          <a:bodyPr anchor="t" rtlCol="false" tIns="0" lIns="0" bIns="0" rIns="0">
            <a:spAutoFit/>
          </a:bodyPr>
          <a:lstStyle/>
          <a:p>
            <a:pPr algn="l">
              <a:lnSpc>
                <a:spcPts val="2619"/>
              </a:lnSpc>
            </a:pPr>
            <a:r>
              <a:rPr lang="en-US" sz="2359" spc="113" b="true">
                <a:solidFill>
                  <a:srgbClr val="202330"/>
                </a:solidFill>
                <a:latin typeface="Nunito Bold"/>
                <a:ea typeface="Nunito Bold"/>
                <a:cs typeface="Nunito Bold"/>
                <a:sym typeface="Nunito Bold"/>
              </a:rPr>
              <a:t>Data Ingestion</a:t>
            </a:r>
          </a:p>
          <a:p>
            <a:pPr algn="l">
              <a:lnSpc>
                <a:spcPts val="2619"/>
              </a:lnSpc>
            </a:pPr>
            <a:r>
              <a:rPr lang="en-US" sz="2359" spc="113">
                <a:solidFill>
                  <a:srgbClr val="202330"/>
                </a:solidFill>
                <a:latin typeface="Nunito"/>
                <a:ea typeface="Nunito"/>
                <a:cs typeface="Nunito"/>
                <a:sym typeface="Nunito"/>
              </a:rPr>
              <a:t>Multi-source data collection from APIs, hospital systems, and public health databases with real-time synchronisation.</a:t>
            </a:r>
          </a:p>
          <a:p>
            <a:pPr algn="l" marL="0" indent="0" lvl="1">
              <a:lnSpc>
                <a:spcPts val="2619"/>
              </a:lnSpc>
            </a:pPr>
          </a:p>
        </p:txBody>
      </p:sp>
      <p:sp>
        <p:nvSpPr>
          <p:cNvPr name="TextBox 13" id="13"/>
          <p:cNvSpPr txBox="true"/>
          <p:nvPr/>
        </p:nvSpPr>
        <p:spPr>
          <a:xfrm rot="0">
            <a:off x="2654904" y="5170604"/>
            <a:ext cx="8163724" cy="1627172"/>
          </a:xfrm>
          <a:prstGeom prst="rect">
            <a:avLst/>
          </a:prstGeom>
        </p:spPr>
        <p:txBody>
          <a:bodyPr anchor="t" rtlCol="false" tIns="0" lIns="0" bIns="0" rIns="0">
            <a:spAutoFit/>
          </a:bodyPr>
          <a:lstStyle/>
          <a:p>
            <a:pPr algn="l">
              <a:lnSpc>
                <a:spcPts val="2619"/>
              </a:lnSpc>
            </a:pPr>
            <a:r>
              <a:rPr lang="en-US" sz="2359" spc="113" b="true">
                <a:solidFill>
                  <a:srgbClr val="202330"/>
                </a:solidFill>
                <a:latin typeface="Nunito Bold"/>
                <a:ea typeface="Nunito Bold"/>
                <a:cs typeface="Nunito Bold"/>
                <a:sym typeface="Nunito Bold"/>
              </a:rPr>
              <a:t>ML Prediction Engine</a:t>
            </a:r>
          </a:p>
          <a:p>
            <a:pPr algn="l">
              <a:lnSpc>
                <a:spcPts val="2619"/>
              </a:lnSpc>
            </a:pPr>
            <a:r>
              <a:rPr lang="en-US" sz="2359" spc="113">
                <a:solidFill>
                  <a:srgbClr val="202330"/>
                </a:solidFill>
                <a:latin typeface="Nunito"/>
                <a:ea typeface="Nunito"/>
                <a:cs typeface="Nunito"/>
                <a:sym typeface="Nunito"/>
              </a:rPr>
              <a:t>Advanced models forecast outbreak hotspots, resource shortages, and hospital occupancy trends for 7-14 day windows.</a:t>
            </a:r>
          </a:p>
          <a:p>
            <a:pPr algn="l" marL="0" indent="0" lvl="1">
              <a:lnSpc>
                <a:spcPts val="2619"/>
              </a:lnSpc>
            </a:pPr>
          </a:p>
        </p:txBody>
      </p:sp>
      <p:sp>
        <p:nvSpPr>
          <p:cNvPr name="TextBox 14" id="14"/>
          <p:cNvSpPr txBox="true"/>
          <p:nvPr/>
        </p:nvSpPr>
        <p:spPr>
          <a:xfrm rot="0">
            <a:off x="2654904" y="6495146"/>
            <a:ext cx="9160527" cy="1303322"/>
          </a:xfrm>
          <a:prstGeom prst="rect">
            <a:avLst/>
          </a:prstGeom>
        </p:spPr>
        <p:txBody>
          <a:bodyPr anchor="t" rtlCol="false" tIns="0" lIns="0" bIns="0" rIns="0">
            <a:spAutoFit/>
          </a:bodyPr>
          <a:lstStyle/>
          <a:p>
            <a:pPr algn="l">
              <a:lnSpc>
                <a:spcPts val="2619"/>
              </a:lnSpc>
            </a:pPr>
            <a:r>
              <a:rPr lang="en-US" sz="2359" spc="113" b="true">
                <a:solidFill>
                  <a:srgbClr val="202330"/>
                </a:solidFill>
                <a:latin typeface="Nunito Bold"/>
                <a:ea typeface="Nunito Bold"/>
                <a:cs typeface="Nunito Bold"/>
                <a:sym typeface="Nunito Bold"/>
              </a:rPr>
              <a:t>GIS Visualisation</a:t>
            </a:r>
          </a:p>
          <a:p>
            <a:pPr algn="l">
              <a:lnSpc>
                <a:spcPts val="2619"/>
              </a:lnSpc>
            </a:pPr>
            <a:r>
              <a:rPr lang="en-US" sz="2359" spc="113">
                <a:solidFill>
                  <a:srgbClr val="202330"/>
                </a:solidFill>
                <a:latin typeface="Nunito"/>
                <a:ea typeface="Nunito"/>
                <a:cs typeface="Nunito"/>
                <a:sym typeface="Nunito"/>
              </a:rPr>
              <a:t>Interactive mapping layer translates predictions into visual, actionable insights with geographic precision.</a:t>
            </a:r>
          </a:p>
          <a:p>
            <a:pPr algn="l" marL="0" indent="0" lvl="1">
              <a:lnSpc>
                <a:spcPts val="2619"/>
              </a:lnSpc>
            </a:pPr>
          </a:p>
        </p:txBody>
      </p:sp>
      <p:sp>
        <p:nvSpPr>
          <p:cNvPr name="TextBox 15" id="15"/>
          <p:cNvSpPr txBox="true"/>
          <p:nvPr/>
        </p:nvSpPr>
        <p:spPr>
          <a:xfrm rot="0">
            <a:off x="2654904" y="7769767"/>
            <a:ext cx="9160527" cy="1303322"/>
          </a:xfrm>
          <a:prstGeom prst="rect">
            <a:avLst/>
          </a:prstGeom>
        </p:spPr>
        <p:txBody>
          <a:bodyPr anchor="t" rtlCol="false" tIns="0" lIns="0" bIns="0" rIns="0">
            <a:spAutoFit/>
          </a:bodyPr>
          <a:lstStyle/>
          <a:p>
            <a:pPr algn="l">
              <a:lnSpc>
                <a:spcPts val="2619"/>
              </a:lnSpc>
            </a:pPr>
            <a:r>
              <a:rPr lang="en-US" sz="2359" spc="113" b="true">
                <a:solidFill>
                  <a:srgbClr val="202330"/>
                </a:solidFill>
                <a:latin typeface="Nunito Bold"/>
                <a:ea typeface="Nunito Bold"/>
                <a:cs typeface="Nunito Bold"/>
                <a:sym typeface="Nunito Bold"/>
              </a:rPr>
              <a:t>Alert &amp; Simulation</a:t>
            </a:r>
          </a:p>
          <a:p>
            <a:pPr algn="l">
              <a:lnSpc>
                <a:spcPts val="2619"/>
              </a:lnSpc>
            </a:pPr>
            <a:r>
              <a:rPr lang="en-US" sz="2359" spc="113">
                <a:solidFill>
                  <a:srgbClr val="202330"/>
                </a:solidFill>
                <a:latin typeface="Nunito"/>
                <a:ea typeface="Nunito"/>
                <a:cs typeface="Nunito"/>
                <a:sym typeface="Nunito"/>
              </a:rPr>
              <a:t>Automated warnings and scenario modelling enable proactive response planning and resource mobilisation.</a:t>
            </a:r>
          </a:p>
          <a:p>
            <a:pPr algn="l" marL="0" indent="0" lvl="1">
              <a:lnSpc>
                <a:spcPts val="2619"/>
              </a:lnSpc>
            </a:pPr>
          </a:p>
        </p:txBody>
      </p:sp>
      <p:sp>
        <p:nvSpPr>
          <p:cNvPr name="AutoShape 16" id="16"/>
          <p:cNvSpPr/>
          <p:nvPr/>
        </p:nvSpPr>
        <p:spPr>
          <a:xfrm>
            <a:off x="1805002" y="4104944"/>
            <a:ext cx="0" cy="4045617"/>
          </a:xfrm>
          <a:prstGeom prst="line">
            <a:avLst/>
          </a:prstGeom>
          <a:ln cap="flat" w="133350">
            <a:solidFill>
              <a:srgbClr val="9B33E5"/>
            </a:solidFill>
            <a:prstDash val="solid"/>
            <a:headEnd type="none" len="sm" w="sm"/>
            <a:tailEnd type="none" len="sm" w="sm"/>
          </a:ln>
        </p:spPr>
      </p:sp>
      <p:grpSp>
        <p:nvGrpSpPr>
          <p:cNvPr name="Group 17" id="17"/>
          <p:cNvGrpSpPr/>
          <p:nvPr/>
        </p:nvGrpSpPr>
        <p:grpSpPr>
          <a:xfrm rot="0">
            <a:off x="1205058" y="3988243"/>
            <a:ext cx="1237988" cy="421815"/>
            <a:chOff x="0" y="0"/>
            <a:chExt cx="350091" cy="119285"/>
          </a:xfrm>
        </p:grpSpPr>
        <p:sp>
          <p:nvSpPr>
            <p:cNvPr name="Freeform 18" id="18"/>
            <p:cNvSpPr/>
            <p:nvPr/>
          </p:nvSpPr>
          <p:spPr>
            <a:xfrm flipH="false" flipV="false" rot="0">
              <a:off x="0" y="0"/>
              <a:ext cx="350091" cy="119285"/>
            </a:xfrm>
            <a:custGeom>
              <a:avLst/>
              <a:gdLst/>
              <a:ahLst/>
              <a:cxnLst/>
              <a:rect r="r" b="b" t="t" l="l"/>
              <a:pathLst>
                <a:path h="119285" w="350091">
                  <a:moveTo>
                    <a:pt x="59643" y="0"/>
                  </a:moveTo>
                  <a:lnTo>
                    <a:pt x="290448" y="0"/>
                  </a:lnTo>
                  <a:cubicBezTo>
                    <a:pt x="323388" y="0"/>
                    <a:pt x="350091" y="26703"/>
                    <a:pt x="350091" y="59643"/>
                  </a:cubicBezTo>
                  <a:lnTo>
                    <a:pt x="350091" y="59643"/>
                  </a:lnTo>
                  <a:cubicBezTo>
                    <a:pt x="350091" y="92582"/>
                    <a:pt x="323388" y="119285"/>
                    <a:pt x="290448" y="119285"/>
                  </a:cubicBezTo>
                  <a:lnTo>
                    <a:pt x="59643" y="119285"/>
                  </a:lnTo>
                  <a:cubicBezTo>
                    <a:pt x="26703" y="119285"/>
                    <a:pt x="0" y="92582"/>
                    <a:pt x="0" y="59643"/>
                  </a:cubicBezTo>
                  <a:lnTo>
                    <a:pt x="0" y="59643"/>
                  </a:lnTo>
                  <a:cubicBezTo>
                    <a:pt x="0" y="26703"/>
                    <a:pt x="26703" y="0"/>
                    <a:pt x="59643" y="0"/>
                  </a:cubicBezTo>
                  <a:close/>
                </a:path>
              </a:pathLst>
            </a:custGeom>
            <a:solidFill>
              <a:srgbClr val="9B33E5"/>
            </a:solidFill>
          </p:spPr>
        </p:sp>
        <p:sp>
          <p:nvSpPr>
            <p:cNvPr name="TextBox 19" id="19"/>
            <p:cNvSpPr txBox="true"/>
            <p:nvPr/>
          </p:nvSpPr>
          <p:spPr>
            <a:xfrm>
              <a:off x="0" y="-38100"/>
              <a:ext cx="350091" cy="157385"/>
            </a:xfrm>
            <a:prstGeom prst="rect">
              <a:avLst/>
            </a:prstGeom>
          </p:spPr>
          <p:txBody>
            <a:bodyPr anchor="ctr" rtlCol="false" tIns="0" lIns="0" bIns="0" rIns="0"/>
            <a:lstStyle/>
            <a:p>
              <a:pPr algn="ctr">
                <a:lnSpc>
                  <a:spcPts val="2869"/>
                </a:lnSpc>
              </a:pPr>
              <a:r>
                <a:rPr lang="en-US" b="true" sz="2049" spc="98">
                  <a:solidFill>
                    <a:srgbClr val="FFF6EA"/>
                  </a:solidFill>
                  <a:latin typeface="Nunito Bold"/>
                  <a:ea typeface="Nunito Bold"/>
                  <a:cs typeface="Nunito Bold"/>
                  <a:sym typeface="Nunito Bold"/>
                </a:rPr>
                <a:t>1</a:t>
              </a:r>
            </a:p>
          </p:txBody>
        </p:sp>
      </p:grpSp>
      <p:grpSp>
        <p:nvGrpSpPr>
          <p:cNvPr name="Group 20" id="20"/>
          <p:cNvGrpSpPr/>
          <p:nvPr/>
        </p:nvGrpSpPr>
        <p:grpSpPr>
          <a:xfrm rot="0">
            <a:off x="1205058" y="5109120"/>
            <a:ext cx="1237988" cy="399844"/>
            <a:chOff x="0" y="0"/>
            <a:chExt cx="350091" cy="113072"/>
          </a:xfrm>
        </p:grpSpPr>
        <p:sp>
          <p:nvSpPr>
            <p:cNvPr name="Freeform 21" id="21"/>
            <p:cNvSpPr/>
            <p:nvPr/>
          </p:nvSpPr>
          <p:spPr>
            <a:xfrm flipH="false" flipV="false" rot="0">
              <a:off x="0" y="0"/>
              <a:ext cx="350091" cy="113072"/>
            </a:xfrm>
            <a:custGeom>
              <a:avLst/>
              <a:gdLst/>
              <a:ahLst/>
              <a:cxnLst/>
              <a:rect r="r" b="b" t="t" l="l"/>
              <a:pathLst>
                <a:path h="113072" w="350091">
                  <a:moveTo>
                    <a:pt x="56536" y="0"/>
                  </a:moveTo>
                  <a:lnTo>
                    <a:pt x="293555" y="0"/>
                  </a:lnTo>
                  <a:cubicBezTo>
                    <a:pt x="308549" y="0"/>
                    <a:pt x="322929" y="5956"/>
                    <a:pt x="333532" y="16559"/>
                  </a:cubicBezTo>
                  <a:cubicBezTo>
                    <a:pt x="344135" y="27162"/>
                    <a:pt x="350091" y="41542"/>
                    <a:pt x="350091" y="56536"/>
                  </a:cubicBezTo>
                  <a:lnTo>
                    <a:pt x="350091" y="56536"/>
                  </a:lnTo>
                  <a:cubicBezTo>
                    <a:pt x="350091" y="71530"/>
                    <a:pt x="344135" y="85910"/>
                    <a:pt x="333532" y="96513"/>
                  </a:cubicBezTo>
                  <a:cubicBezTo>
                    <a:pt x="322929" y="107115"/>
                    <a:pt x="308549" y="113072"/>
                    <a:pt x="293555" y="113072"/>
                  </a:cubicBezTo>
                  <a:lnTo>
                    <a:pt x="56536" y="113072"/>
                  </a:lnTo>
                  <a:cubicBezTo>
                    <a:pt x="41542" y="113072"/>
                    <a:pt x="27162" y="107115"/>
                    <a:pt x="16559" y="96513"/>
                  </a:cubicBezTo>
                  <a:cubicBezTo>
                    <a:pt x="5956" y="85910"/>
                    <a:pt x="0" y="71530"/>
                    <a:pt x="0" y="56536"/>
                  </a:cubicBezTo>
                  <a:lnTo>
                    <a:pt x="0" y="56536"/>
                  </a:lnTo>
                  <a:cubicBezTo>
                    <a:pt x="0" y="41542"/>
                    <a:pt x="5956" y="27162"/>
                    <a:pt x="16559" y="16559"/>
                  </a:cubicBezTo>
                  <a:cubicBezTo>
                    <a:pt x="27162" y="5956"/>
                    <a:pt x="41542" y="0"/>
                    <a:pt x="56536" y="0"/>
                  </a:cubicBezTo>
                  <a:close/>
                </a:path>
              </a:pathLst>
            </a:custGeom>
            <a:solidFill>
              <a:srgbClr val="9B33E5"/>
            </a:solidFill>
          </p:spPr>
        </p:sp>
        <p:sp>
          <p:nvSpPr>
            <p:cNvPr name="TextBox 22" id="22"/>
            <p:cNvSpPr txBox="true"/>
            <p:nvPr/>
          </p:nvSpPr>
          <p:spPr>
            <a:xfrm>
              <a:off x="0" y="-47625"/>
              <a:ext cx="350091" cy="160697"/>
            </a:xfrm>
            <a:prstGeom prst="rect">
              <a:avLst/>
            </a:prstGeom>
          </p:spPr>
          <p:txBody>
            <a:bodyPr anchor="ctr" rtlCol="false" tIns="0" lIns="0" bIns="0" rIns="0"/>
            <a:lstStyle/>
            <a:p>
              <a:pPr algn="ctr">
                <a:lnSpc>
                  <a:spcPts val="2729"/>
                </a:lnSpc>
              </a:pPr>
              <a:r>
                <a:rPr lang="en-US" b="true" sz="1949" spc="93">
                  <a:solidFill>
                    <a:srgbClr val="FFF6EA"/>
                  </a:solidFill>
                  <a:latin typeface="Nunito Bold"/>
                  <a:ea typeface="Nunito Bold"/>
                  <a:cs typeface="Nunito Bold"/>
                  <a:sym typeface="Nunito Bold"/>
                </a:rPr>
                <a:t>2</a:t>
              </a:r>
            </a:p>
          </p:txBody>
        </p:sp>
      </p:grpSp>
      <p:grpSp>
        <p:nvGrpSpPr>
          <p:cNvPr name="Group 23" id="23"/>
          <p:cNvGrpSpPr/>
          <p:nvPr/>
        </p:nvGrpSpPr>
        <p:grpSpPr>
          <a:xfrm rot="0">
            <a:off x="1205058" y="6429919"/>
            <a:ext cx="1237988" cy="399844"/>
            <a:chOff x="0" y="0"/>
            <a:chExt cx="350091" cy="113072"/>
          </a:xfrm>
        </p:grpSpPr>
        <p:sp>
          <p:nvSpPr>
            <p:cNvPr name="Freeform 24" id="24"/>
            <p:cNvSpPr/>
            <p:nvPr/>
          </p:nvSpPr>
          <p:spPr>
            <a:xfrm flipH="false" flipV="false" rot="0">
              <a:off x="0" y="0"/>
              <a:ext cx="350091" cy="113072"/>
            </a:xfrm>
            <a:custGeom>
              <a:avLst/>
              <a:gdLst/>
              <a:ahLst/>
              <a:cxnLst/>
              <a:rect r="r" b="b" t="t" l="l"/>
              <a:pathLst>
                <a:path h="113072" w="350091">
                  <a:moveTo>
                    <a:pt x="56536" y="0"/>
                  </a:moveTo>
                  <a:lnTo>
                    <a:pt x="293555" y="0"/>
                  </a:lnTo>
                  <a:cubicBezTo>
                    <a:pt x="308549" y="0"/>
                    <a:pt x="322929" y="5956"/>
                    <a:pt x="333532" y="16559"/>
                  </a:cubicBezTo>
                  <a:cubicBezTo>
                    <a:pt x="344135" y="27162"/>
                    <a:pt x="350091" y="41542"/>
                    <a:pt x="350091" y="56536"/>
                  </a:cubicBezTo>
                  <a:lnTo>
                    <a:pt x="350091" y="56536"/>
                  </a:lnTo>
                  <a:cubicBezTo>
                    <a:pt x="350091" y="71530"/>
                    <a:pt x="344135" y="85910"/>
                    <a:pt x="333532" y="96513"/>
                  </a:cubicBezTo>
                  <a:cubicBezTo>
                    <a:pt x="322929" y="107115"/>
                    <a:pt x="308549" y="113072"/>
                    <a:pt x="293555" y="113072"/>
                  </a:cubicBezTo>
                  <a:lnTo>
                    <a:pt x="56536" y="113072"/>
                  </a:lnTo>
                  <a:cubicBezTo>
                    <a:pt x="41542" y="113072"/>
                    <a:pt x="27162" y="107115"/>
                    <a:pt x="16559" y="96513"/>
                  </a:cubicBezTo>
                  <a:cubicBezTo>
                    <a:pt x="5956" y="85910"/>
                    <a:pt x="0" y="71530"/>
                    <a:pt x="0" y="56536"/>
                  </a:cubicBezTo>
                  <a:lnTo>
                    <a:pt x="0" y="56536"/>
                  </a:lnTo>
                  <a:cubicBezTo>
                    <a:pt x="0" y="41542"/>
                    <a:pt x="5956" y="27162"/>
                    <a:pt x="16559" y="16559"/>
                  </a:cubicBezTo>
                  <a:cubicBezTo>
                    <a:pt x="27162" y="5956"/>
                    <a:pt x="41542" y="0"/>
                    <a:pt x="56536" y="0"/>
                  </a:cubicBezTo>
                  <a:close/>
                </a:path>
              </a:pathLst>
            </a:custGeom>
            <a:solidFill>
              <a:srgbClr val="9B33E5"/>
            </a:solidFill>
          </p:spPr>
        </p:sp>
        <p:sp>
          <p:nvSpPr>
            <p:cNvPr name="TextBox 25" id="25"/>
            <p:cNvSpPr txBox="true"/>
            <p:nvPr/>
          </p:nvSpPr>
          <p:spPr>
            <a:xfrm>
              <a:off x="0" y="-47625"/>
              <a:ext cx="350091" cy="160697"/>
            </a:xfrm>
            <a:prstGeom prst="rect">
              <a:avLst/>
            </a:prstGeom>
          </p:spPr>
          <p:txBody>
            <a:bodyPr anchor="ctr" rtlCol="false" tIns="0" lIns="0" bIns="0" rIns="0"/>
            <a:lstStyle/>
            <a:p>
              <a:pPr algn="ctr">
                <a:lnSpc>
                  <a:spcPts val="2729"/>
                </a:lnSpc>
              </a:pPr>
              <a:r>
                <a:rPr lang="en-US" b="true" sz="1949" spc="93">
                  <a:solidFill>
                    <a:srgbClr val="FFF6EA"/>
                  </a:solidFill>
                  <a:latin typeface="Nunito Bold"/>
                  <a:ea typeface="Nunito Bold"/>
                  <a:cs typeface="Nunito Bold"/>
                  <a:sym typeface="Nunito Bold"/>
                </a:rPr>
                <a:t>3</a:t>
              </a:r>
            </a:p>
          </p:txBody>
        </p:sp>
      </p:grpSp>
      <p:grpSp>
        <p:nvGrpSpPr>
          <p:cNvPr name="Group 26" id="26"/>
          <p:cNvGrpSpPr/>
          <p:nvPr/>
        </p:nvGrpSpPr>
        <p:grpSpPr>
          <a:xfrm rot="0">
            <a:off x="1205058" y="7750717"/>
            <a:ext cx="1237988" cy="399844"/>
            <a:chOff x="0" y="0"/>
            <a:chExt cx="350091" cy="113072"/>
          </a:xfrm>
        </p:grpSpPr>
        <p:sp>
          <p:nvSpPr>
            <p:cNvPr name="Freeform 27" id="27"/>
            <p:cNvSpPr/>
            <p:nvPr/>
          </p:nvSpPr>
          <p:spPr>
            <a:xfrm flipH="false" flipV="false" rot="0">
              <a:off x="0" y="0"/>
              <a:ext cx="350091" cy="113072"/>
            </a:xfrm>
            <a:custGeom>
              <a:avLst/>
              <a:gdLst/>
              <a:ahLst/>
              <a:cxnLst/>
              <a:rect r="r" b="b" t="t" l="l"/>
              <a:pathLst>
                <a:path h="113072" w="350091">
                  <a:moveTo>
                    <a:pt x="56536" y="0"/>
                  </a:moveTo>
                  <a:lnTo>
                    <a:pt x="293555" y="0"/>
                  </a:lnTo>
                  <a:cubicBezTo>
                    <a:pt x="308549" y="0"/>
                    <a:pt x="322929" y="5956"/>
                    <a:pt x="333532" y="16559"/>
                  </a:cubicBezTo>
                  <a:cubicBezTo>
                    <a:pt x="344135" y="27162"/>
                    <a:pt x="350091" y="41542"/>
                    <a:pt x="350091" y="56536"/>
                  </a:cubicBezTo>
                  <a:lnTo>
                    <a:pt x="350091" y="56536"/>
                  </a:lnTo>
                  <a:cubicBezTo>
                    <a:pt x="350091" y="71530"/>
                    <a:pt x="344135" y="85910"/>
                    <a:pt x="333532" y="96513"/>
                  </a:cubicBezTo>
                  <a:cubicBezTo>
                    <a:pt x="322929" y="107115"/>
                    <a:pt x="308549" y="113072"/>
                    <a:pt x="293555" y="113072"/>
                  </a:cubicBezTo>
                  <a:lnTo>
                    <a:pt x="56536" y="113072"/>
                  </a:lnTo>
                  <a:cubicBezTo>
                    <a:pt x="41542" y="113072"/>
                    <a:pt x="27162" y="107115"/>
                    <a:pt x="16559" y="96513"/>
                  </a:cubicBezTo>
                  <a:cubicBezTo>
                    <a:pt x="5956" y="85910"/>
                    <a:pt x="0" y="71530"/>
                    <a:pt x="0" y="56536"/>
                  </a:cubicBezTo>
                  <a:lnTo>
                    <a:pt x="0" y="56536"/>
                  </a:lnTo>
                  <a:cubicBezTo>
                    <a:pt x="0" y="41542"/>
                    <a:pt x="5956" y="27162"/>
                    <a:pt x="16559" y="16559"/>
                  </a:cubicBezTo>
                  <a:cubicBezTo>
                    <a:pt x="27162" y="5956"/>
                    <a:pt x="41542" y="0"/>
                    <a:pt x="56536" y="0"/>
                  </a:cubicBezTo>
                  <a:close/>
                </a:path>
              </a:pathLst>
            </a:custGeom>
            <a:solidFill>
              <a:srgbClr val="9B33E5"/>
            </a:solidFill>
          </p:spPr>
        </p:sp>
        <p:sp>
          <p:nvSpPr>
            <p:cNvPr name="TextBox 28" id="28"/>
            <p:cNvSpPr txBox="true"/>
            <p:nvPr/>
          </p:nvSpPr>
          <p:spPr>
            <a:xfrm>
              <a:off x="0" y="-47625"/>
              <a:ext cx="350091" cy="160697"/>
            </a:xfrm>
            <a:prstGeom prst="rect">
              <a:avLst/>
            </a:prstGeom>
          </p:spPr>
          <p:txBody>
            <a:bodyPr anchor="ctr" rtlCol="false" tIns="0" lIns="0" bIns="0" rIns="0"/>
            <a:lstStyle/>
            <a:p>
              <a:pPr algn="ctr">
                <a:lnSpc>
                  <a:spcPts val="2729"/>
                </a:lnSpc>
              </a:pPr>
              <a:r>
                <a:rPr lang="en-US" b="true" sz="1949" spc="93">
                  <a:solidFill>
                    <a:srgbClr val="FFF6EA"/>
                  </a:solidFill>
                  <a:latin typeface="Nunito Bold"/>
                  <a:ea typeface="Nunito Bold"/>
                  <a:cs typeface="Nunito Bold"/>
                  <a:sym typeface="Nunito Bold"/>
                </a:rPr>
                <a:t>4</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4455795" y="455295"/>
            <a:ext cx="9376411" cy="9376411"/>
          </a:xfrm>
          <a:custGeom>
            <a:avLst/>
            <a:gdLst/>
            <a:ahLst/>
            <a:cxnLst/>
            <a:rect r="r" b="b" t="t" l="l"/>
            <a:pathLst>
              <a:path h="9376411" w="9376411">
                <a:moveTo>
                  <a:pt x="0" y="0"/>
                </a:moveTo>
                <a:lnTo>
                  <a:pt x="9376410" y="0"/>
                </a:lnTo>
                <a:lnTo>
                  <a:pt x="9376410" y="9376410"/>
                </a:lnTo>
                <a:lnTo>
                  <a:pt x="0" y="9376410"/>
                </a:lnTo>
                <a:lnTo>
                  <a:pt x="0" y="0"/>
                </a:lnTo>
                <a:close/>
              </a:path>
            </a:pathLst>
          </a:custGeom>
          <a:blipFill>
            <a:blip r:embed="rId2"/>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grpSp>
        <p:nvGrpSpPr>
          <p:cNvPr name="Group 2" id="2"/>
          <p:cNvGrpSpPr/>
          <p:nvPr/>
        </p:nvGrpSpPr>
        <p:grpSpPr>
          <a:xfrm rot="0">
            <a:off x="904220" y="3321293"/>
            <a:ext cx="4029206" cy="4571339"/>
            <a:chOff x="0" y="0"/>
            <a:chExt cx="1139421" cy="1292731"/>
          </a:xfrm>
        </p:grpSpPr>
        <p:sp>
          <p:nvSpPr>
            <p:cNvPr name="Freeform 3" id="3"/>
            <p:cNvSpPr/>
            <p:nvPr/>
          </p:nvSpPr>
          <p:spPr>
            <a:xfrm flipH="false" flipV="false" rot="0">
              <a:off x="0" y="0"/>
              <a:ext cx="1139421" cy="1292731"/>
            </a:xfrm>
            <a:custGeom>
              <a:avLst/>
              <a:gdLst/>
              <a:ahLst/>
              <a:cxnLst/>
              <a:rect r="r" b="b" t="t" l="l"/>
              <a:pathLst>
                <a:path h="1292731" w="1139421">
                  <a:moveTo>
                    <a:pt x="11529" y="0"/>
                  </a:moveTo>
                  <a:lnTo>
                    <a:pt x="1127892" y="0"/>
                  </a:lnTo>
                  <a:cubicBezTo>
                    <a:pt x="1130949" y="0"/>
                    <a:pt x="1133882" y="1215"/>
                    <a:pt x="1136044" y="3377"/>
                  </a:cubicBezTo>
                  <a:cubicBezTo>
                    <a:pt x="1138206" y="5539"/>
                    <a:pt x="1139421" y="8471"/>
                    <a:pt x="1139421" y="11529"/>
                  </a:cubicBezTo>
                  <a:lnTo>
                    <a:pt x="1139421" y="1281202"/>
                  </a:lnTo>
                  <a:cubicBezTo>
                    <a:pt x="1139421" y="1287569"/>
                    <a:pt x="1134259" y="1292731"/>
                    <a:pt x="1127892" y="1292731"/>
                  </a:cubicBezTo>
                  <a:lnTo>
                    <a:pt x="11529" y="1292731"/>
                  </a:lnTo>
                  <a:cubicBezTo>
                    <a:pt x="8471" y="1292731"/>
                    <a:pt x="5539" y="1291516"/>
                    <a:pt x="3377" y="1289354"/>
                  </a:cubicBezTo>
                  <a:cubicBezTo>
                    <a:pt x="1215" y="1287192"/>
                    <a:pt x="0" y="1284260"/>
                    <a:pt x="0" y="1281202"/>
                  </a:cubicBezTo>
                  <a:lnTo>
                    <a:pt x="0" y="11529"/>
                  </a:lnTo>
                  <a:cubicBezTo>
                    <a:pt x="0" y="8471"/>
                    <a:pt x="1215" y="5539"/>
                    <a:pt x="3377" y="3377"/>
                  </a:cubicBezTo>
                  <a:cubicBezTo>
                    <a:pt x="5539" y="1215"/>
                    <a:pt x="8471" y="0"/>
                    <a:pt x="11529" y="0"/>
                  </a:cubicBezTo>
                  <a:close/>
                </a:path>
              </a:pathLst>
            </a:custGeom>
            <a:solidFill>
              <a:srgbClr val="21C2D1"/>
            </a:solidFill>
            <a:ln cap="sq">
              <a:noFill/>
              <a:prstDash val="solid"/>
              <a:miter/>
            </a:ln>
          </p:spPr>
        </p:sp>
        <p:sp>
          <p:nvSpPr>
            <p:cNvPr name="TextBox 4" id="4"/>
            <p:cNvSpPr txBox="true"/>
            <p:nvPr/>
          </p:nvSpPr>
          <p:spPr>
            <a:xfrm>
              <a:off x="0" y="-47625"/>
              <a:ext cx="1139421" cy="1340356"/>
            </a:xfrm>
            <a:prstGeom prst="rect">
              <a:avLst/>
            </a:prstGeom>
          </p:spPr>
          <p:txBody>
            <a:bodyPr anchor="ctr" rtlCol="false" tIns="0" lIns="0" bIns="0" rIns="0"/>
            <a:lstStyle/>
            <a:p>
              <a:pPr algn="ctr" marL="0" indent="0" lvl="1">
                <a:lnSpc>
                  <a:spcPts val="2729"/>
                </a:lnSpc>
                <a:spcBef>
                  <a:spcPct val="0"/>
                </a:spcBef>
              </a:pPr>
            </a:p>
          </p:txBody>
        </p:sp>
      </p:grpSp>
      <p:grpSp>
        <p:nvGrpSpPr>
          <p:cNvPr name="Group 5" id="5"/>
          <p:cNvGrpSpPr/>
          <p:nvPr/>
        </p:nvGrpSpPr>
        <p:grpSpPr>
          <a:xfrm rot="0">
            <a:off x="5135425" y="3321293"/>
            <a:ext cx="4029206" cy="4571339"/>
            <a:chOff x="0" y="0"/>
            <a:chExt cx="1139421" cy="1292731"/>
          </a:xfrm>
        </p:grpSpPr>
        <p:sp>
          <p:nvSpPr>
            <p:cNvPr name="Freeform 6" id="6"/>
            <p:cNvSpPr/>
            <p:nvPr/>
          </p:nvSpPr>
          <p:spPr>
            <a:xfrm flipH="false" flipV="false" rot="0">
              <a:off x="0" y="0"/>
              <a:ext cx="1139421" cy="1292731"/>
            </a:xfrm>
            <a:custGeom>
              <a:avLst/>
              <a:gdLst/>
              <a:ahLst/>
              <a:cxnLst/>
              <a:rect r="r" b="b" t="t" l="l"/>
              <a:pathLst>
                <a:path h="1292731" w="1139421">
                  <a:moveTo>
                    <a:pt x="24979" y="0"/>
                  </a:moveTo>
                  <a:lnTo>
                    <a:pt x="1114442" y="0"/>
                  </a:lnTo>
                  <a:cubicBezTo>
                    <a:pt x="1128237" y="0"/>
                    <a:pt x="1139421" y="11183"/>
                    <a:pt x="1139421" y="24979"/>
                  </a:cubicBezTo>
                  <a:lnTo>
                    <a:pt x="1139421" y="1267752"/>
                  </a:lnTo>
                  <a:cubicBezTo>
                    <a:pt x="1139421" y="1281547"/>
                    <a:pt x="1128237" y="1292731"/>
                    <a:pt x="1114442" y="1292731"/>
                  </a:cubicBezTo>
                  <a:lnTo>
                    <a:pt x="24979" y="1292731"/>
                  </a:lnTo>
                  <a:cubicBezTo>
                    <a:pt x="11183" y="1292731"/>
                    <a:pt x="0" y="1281547"/>
                    <a:pt x="0" y="1267752"/>
                  </a:cubicBezTo>
                  <a:lnTo>
                    <a:pt x="0" y="24979"/>
                  </a:lnTo>
                  <a:cubicBezTo>
                    <a:pt x="0" y="11183"/>
                    <a:pt x="11183" y="0"/>
                    <a:pt x="24979" y="0"/>
                  </a:cubicBezTo>
                  <a:close/>
                </a:path>
              </a:pathLst>
            </a:custGeom>
            <a:solidFill>
              <a:srgbClr val="FFAE39"/>
            </a:solidFill>
            <a:ln cap="sq">
              <a:noFill/>
              <a:prstDash val="solid"/>
              <a:miter/>
            </a:ln>
          </p:spPr>
        </p:sp>
        <p:sp>
          <p:nvSpPr>
            <p:cNvPr name="TextBox 7" id="7"/>
            <p:cNvSpPr txBox="true"/>
            <p:nvPr/>
          </p:nvSpPr>
          <p:spPr>
            <a:xfrm>
              <a:off x="0" y="-47625"/>
              <a:ext cx="1139421" cy="1340356"/>
            </a:xfrm>
            <a:prstGeom prst="rect">
              <a:avLst/>
            </a:prstGeom>
          </p:spPr>
          <p:txBody>
            <a:bodyPr anchor="ctr" rtlCol="false" tIns="0" lIns="0" bIns="0" rIns="0"/>
            <a:lstStyle/>
            <a:p>
              <a:pPr algn="ctr" marL="0" indent="0" lvl="1">
                <a:lnSpc>
                  <a:spcPts val="2729"/>
                </a:lnSpc>
                <a:spcBef>
                  <a:spcPct val="0"/>
                </a:spcBef>
              </a:pPr>
            </a:p>
          </p:txBody>
        </p:sp>
      </p:grpSp>
      <p:grpSp>
        <p:nvGrpSpPr>
          <p:cNvPr name="Group 8" id="8"/>
          <p:cNvGrpSpPr/>
          <p:nvPr/>
        </p:nvGrpSpPr>
        <p:grpSpPr>
          <a:xfrm rot="0">
            <a:off x="9368664" y="3321293"/>
            <a:ext cx="4029206" cy="4571339"/>
            <a:chOff x="0" y="0"/>
            <a:chExt cx="1139421" cy="1292731"/>
          </a:xfrm>
        </p:grpSpPr>
        <p:sp>
          <p:nvSpPr>
            <p:cNvPr name="Freeform 9" id="9"/>
            <p:cNvSpPr/>
            <p:nvPr/>
          </p:nvSpPr>
          <p:spPr>
            <a:xfrm flipH="false" flipV="false" rot="0">
              <a:off x="0" y="0"/>
              <a:ext cx="1139421" cy="1292731"/>
            </a:xfrm>
            <a:custGeom>
              <a:avLst/>
              <a:gdLst/>
              <a:ahLst/>
              <a:cxnLst/>
              <a:rect r="r" b="b" t="t" l="l"/>
              <a:pathLst>
                <a:path h="1292731" w="1139421">
                  <a:moveTo>
                    <a:pt x="24979" y="0"/>
                  </a:moveTo>
                  <a:lnTo>
                    <a:pt x="1114442" y="0"/>
                  </a:lnTo>
                  <a:cubicBezTo>
                    <a:pt x="1128237" y="0"/>
                    <a:pt x="1139421" y="11183"/>
                    <a:pt x="1139421" y="24979"/>
                  </a:cubicBezTo>
                  <a:lnTo>
                    <a:pt x="1139421" y="1267752"/>
                  </a:lnTo>
                  <a:cubicBezTo>
                    <a:pt x="1139421" y="1281547"/>
                    <a:pt x="1128237" y="1292731"/>
                    <a:pt x="1114442" y="1292731"/>
                  </a:cubicBezTo>
                  <a:lnTo>
                    <a:pt x="24979" y="1292731"/>
                  </a:lnTo>
                  <a:cubicBezTo>
                    <a:pt x="11183" y="1292731"/>
                    <a:pt x="0" y="1281547"/>
                    <a:pt x="0" y="1267752"/>
                  </a:cubicBezTo>
                  <a:lnTo>
                    <a:pt x="0" y="24979"/>
                  </a:lnTo>
                  <a:cubicBezTo>
                    <a:pt x="0" y="11183"/>
                    <a:pt x="11183" y="0"/>
                    <a:pt x="24979" y="0"/>
                  </a:cubicBezTo>
                  <a:close/>
                </a:path>
              </a:pathLst>
            </a:custGeom>
            <a:solidFill>
              <a:srgbClr val="E82D8F"/>
            </a:solidFill>
            <a:ln cap="sq">
              <a:noFill/>
              <a:prstDash val="solid"/>
              <a:miter/>
            </a:ln>
          </p:spPr>
        </p:sp>
        <p:sp>
          <p:nvSpPr>
            <p:cNvPr name="TextBox 10" id="10"/>
            <p:cNvSpPr txBox="true"/>
            <p:nvPr/>
          </p:nvSpPr>
          <p:spPr>
            <a:xfrm>
              <a:off x="0" y="-47625"/>
              <a:ext cx="1139421" cy="1340356"/>
            </a:xfrm>
            <a:prstGeom prst="rect">
              <a:avLst/>
            </a:prstGeom>
          </p:spPr>
          <p:txBody>
            <a:bodyPr anchor="ctr" rtlCol="false" tIns="0" lIns="0" bIns="0" rIns="0"/>
            <a:lstStyle/>
            <a:p>
              <a:pPr algn="ctr" marL="0" indent="0" lvl="1">
                <a:lnSpc>
                  <a:spcPts val="2729"/>
                </a:lnSpc>
                <a:spcBef>
                  <a:spcPct val="0"/>
                </a:spcBef>
              </a:pPr>
            </a:p>
          </p:txBody>
        </p:sp>
      </p:grpSp>
      <p:grpSp>
        <p:nvGrpSpPr>
          <p:cNvPr name="Group 11" id="11"/>
          <p:cNvGrpSpPr/>
          <p:nvPr/>
        </p:nvGrpSpPr>
        <p:grpSpPr>
          <a:xfrm rot="0">
            <a:off x="13593033" y="3321293"/>
            <a:ext cx="4029206" cy="4571339"/>
            <a:chOff x="0" y="0"/>
            <a:chExt cx="1139421" cy="1292731"/>
          </a:xfrm>
        </p:grpSpPr>
        <p:sp>
          <p:nvSpPr>
            <p:cNvPr name="Freeform 12" id="12"/>
            <p:cNvSpPr/>
            <p:nvPr/>
          </p:nvSpPr>
          <p:spPr>
            <a:xfrm flipH="false" flipV="false" rot="0">
              <a:off x="0" y="0"/>
              <a:ext cx="1139421" cy="1292731"/>
            </a:xfrm>
            <a:custGeom>
              <a:avLst/>
              <a:gdLst/>
              <a:ahLst/>
              <a:cxnLst/>
              <a:rect r="r" b="b" t="t" l="l"/>
              <a:pathLst>
                <a:path h="1292731" w="1139421">
                  <a:moveTo>
                    <a:pt x="24979" y="0"/>
                  </a:moveTo>
                  <a:lnTo>
                    <a:pt x="1114442" y="0"/>
                  </a:lnTo>
                  <a:cubicBezTo>
                    <a:pt x="1128237" y="0"/>
                    <a:pt x="1139421" y="11183"/>
                    <a:pt x="1139421" y="24979"/>
                  </a:cubicBezTo>
                  <a:lnTo>
                    <a:pt x="1139421" y="1267752"/>
                  </a:lnTo>
                  <a:cubicBezTo>
                    <a:pt x="1139421" y="1281547"/>
                    <a:pt x="1128237" y="1292731"/>
                    <a:pt x="1114442" y="1292731"/>
                  </a:cubicBezTo>
                  <a:lnTo>
                    <a:pt x="24979" y="1292731"/>
                  </a:lnTo>
                  <a:cubicBezTo>
                    <a:pt x="11183" y="1292731"/>
                    <a:pt x="0" y="1281547"/>
                    <a:pt x="0" y="1267752"/>
                  </a:cubicBezTo>
                  <a:lnTo>
                    <a:pt x="0" y="24979"/>
                  </a:lnTo>
                  <a:cubicBezTo>
                    <a:pt x="0" y="11183"/>
                    <a:pt x="11183" y="0"/>
                    <a:pt x="24979" y="0"/>
                  </a:cubicBezTo>
                  <a:close/>
                </a:path>
              </a:pathLst>
            </a:custGeom>
            <a:solidFill>
              <a:srgbClr val="9B33E5"/>
            </a:solidFill>
          </p:spPr>
        </p:sp>
        <p:sp>
          <p:nvSpPr>
            <p:cNvPr name="TextBox 13" id="13"/>
            <p:cNvSpPr txBox="true"/>
            <p:nvPr/>
          </p:nvSpPr>
          <p:spPr>
            <a:xfrm>
              <a:off x="0" y="-47625"/>
              <a:ext cx="1139421" cy="1340356"/>
            </a:xfrm>
            <a:prstGeom prst="rect">
              <a:avLst/>
            </a:prstGeom>
          </p:spPr>
          <p:txBody>
            <a:bodyPr anchor="ctr" rtlCol="false" tIns="0" lIns="0" bIns="0" rIns="0"/>
            <a:lstStyle/>
            <a:p>
              <a:pPr algn="ctr">
                <a:lnSpc>
                  <a:spcPts val="2729"/>
                </a:lnSpc>
              </a:pPr>
            </a:p>
          </p:txBody>
        </p:sp>
      </p:grpSp>
      <p:sp>
        <p:nvSpPr>
          <p:cNvPr name="Freeform 14" id="14"/>
          <p:cNvSpPr/>
          <p:nvPr/>
        </p:nvSpPr>
        <p:spPr>
          <a:xfrm flipH="false" flipV="false" rot="0">
            <a:off x="2395173" y="3625308"/>
            <a:ext cx="1303703" cy="1481481"/>
          </a:xfrm>
          <a:custGeom>
            <a:avLst/>
            <a:gdLst/>
            <a:ahLst/>
            <a:cxnLst/>
            <a:rect r="r" b="b" t="t" l="l"/>
            <a:pathLst>
              <a:path h="1481481" w="1303703">
                <a:moveTo>
                  <a:pt x="0" y="0"/>
                </a:moveTo>
                <a:lnTo>
                  <a:pt x="1303703" y="0"/>
                </a:lnTo>
                <a:lnTo>
                  <a:pt x="1303703" y="1481481"/>
                </a:lnTo>
                <a:lnTo>
                  <a:pt x="0" y="14814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1059897">
            <a:off x="15540931" y="8156287"/>
            <a:ext cx="2134433" cy="2987120"/>
          </a:xfrm>
          <a:custGeom>
            <a:avLst/>
            <a:gdLst/>
            <a:ahLst/>
            <a:cxnLst/>
            <a:rect r="r" b="b" t="t" l="l"/>
            <a:pathLst>
              <a:path h="2987120" w="2134433">
                <a:moveTo>
                  <a:pt x="0" y="0"/>
                </a:moveTo>
                <a:lnTo>
                  <a:pt x="2134433" y="0"/>
                </a:lnTo>
                <a:lnTo>
                  <a:pt x="2134433" y="2987120"/>
                </a:lnTo>
                <a:lnTo>
                  <a:pt x="0" y="29871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624760">
            <a:off x="409595" y="8646519"/>
            <a:ext cx="2464944" cy="2133297"/>
          </a:xfrm>
          <a:custGeom>
            <a:avLst/>
            <a:gdLst/>
            <a:ahLst/>
            <a:cxnLst/>
            <a:rect r="r" b="b" t="t" l="l"/>
            <a:pathLst>
              <a:path h="2133297" w="2464944">
                <a:moveTo>
                  <a:pt x="0" y="0"/>
                </a:moveTo>
                <a:lnTo>
                  <a:pt x="2464944" y="0"/>
                </a:lnTo>
                <a:lnTo>
                  <a:pt x="2464944" y="2133297"/>
                </a:lnTo>
                <a:lnTo>
                  <a:pt x="0" y="21332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15219949" y="-414049"/>
            <a:ext cx="3665183" cy="2885499"/>
          </a:xfrm>
          <a:custGeom>
            <a:avLst/>
            <a:gdLst/>
            <a:ahLst/>
            <a:cxnLst/>
            <a:rect r="r" b="b" t="t" l="l"/>
            <a:pathLst>
              <a:path h="2885499" w="3665183">
                <a:moveTo>
                  <a:pt x="0" y="0"/>
                </a:moveTo>
                <a:lnTo>
                  <a:pt x="3665183" y="0"/>
                </a:lnTo>
                <a:lnTo>
                  <a:pt x="3665183" y="2885498"/>
                </a:lnTo>
                <a:lnTo>
                  <a:pt x="0" y="28854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false" flipV="false" rot="1637076">
            <a:off x="-481414" y="6777105"/>
            <a:ext cx="1437045" cy="1804509"/>
          </a:xfrm>
          <a:custGeom>
            <a:avLst/>
            <a:gdLst/>
            <a:ahLst/>
            <a:cxnLst/>
            <a:rect r="r" b="b" t="t" l="l"/>
            <a:pathLst>
              <a:path h="1804509" w="1437045">
                <a:moveTo>
                  <a:pt x="0" y="0"/>
                </a:moveTo>
                <a:lnTo>
                  <a:pt x="1437046" y="0"/>
                </a:lnTo>
                <a:lnTo>
                  <a:pt x="1437046" y="1804508"/>
                </a:lnTo>
                <a:lnTo>
                  <a:pt x="0" y="180450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8444684">
            <a:off x="624257" y="-585014"/>
            <a:ext cx="2088796" cy="2475944"/>
          </a:xfrm>
          <a:custGeom>
            <a:avLst/>
            <a:gdLst/>
            <a:ahLst/>
            <a:cxnLst/>
            <a:rect r="r" b="b" t="t" l="l"/>
            <a:pathLst>
              <a:path h="2475944" w="2088796">
                <a:moveTo>
                  <a:pt x="0" y="0"/>
                </a:moveTo>
                <a:lnTo>
                  <a:pt x="2088796" y="0"/>
                </a:lnTo>
                <a:lnTo>
                  <a:pt x="2088796" y="2475944"/>
                </a:lnTo>
                <a:lnTo>
                  <a:pt x="0" y="247594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0" id="20"/>
          <p:cNvSpPr/>
          <p:nvPr/>
        </p:nvSpPr>
        <p:spPr>
          <a:xfrm flipH="false" flipV="false" rot="0">
            <a:off x="6517583" y="3664551"/>
            <a:ext cx="1310514" cy="1310514"/>
          </a:xfrm>
          <a:custGeom>
            <a:avLst/>
            <a:gdLst/>
            <a:ahLst/>
            <a:cxnLst/>
            <a:rect r="r" b="b" t="t" l="l"/>
            <a:pathLst>
              <a:path h="1310514" w="1310514">
                <a:moveTo>
                  <a:pt x="0" y="0"/>
                </a:moveTo>
                <a:lnTo>
                  <a:pt x="1310514" y="0"/>
                </a:lnTo>
                <a:lnTo>
                  <a:pt x="1310514" y="1310514"/>
                </a:lnTo>
                <a:lnTo>
                  <a:pt x="0" y="131051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21" id="21"/>
          <p:cNvSpPr/>
          <p:nvPr/>
        </p:nvSpPr>
        <p:spPr>
          <a:xfrm flipH="false" flipV="false" rot="0">
            <a:off x="10745781" y="3694545"/>
            <a:ext cx="1448955" cy="1448955"/>
          </a:xfrm>
          <a:custGeom>
            <a:avLst/>
            <a:gdLst/>
            <a:ahLst/>
            <a:cxnLst/>
            <a:rect r="r" b="b" t="t" l="l"/>
            <a:pathLst>
              <a:path h="1448955" w="1448955">
                <a:moveTo>
                  <a:pt x="0" y="0"/>
                </a:moveTo>
                <a:lnTo>
                  <a:pt x="1448955" y="0"/>
                </a:lnTo>
                <a:lnTo>
                  <a:pt x="1448955" y="1448955"/>
                </a:lnTo>
                <a:lnTo>
                  <a:pt x="0" y="144895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2" id="22"/>
          <p:cNvSpPr/>
          <p:nvPr/>
        </p:nvSpPr>
        <p:spPr>
          <a:xfrm flipH="false" flipV="false" rot="0">
            <a:off x="14940920" y="3786589"/>
            <a:ext cx="1356911" cy="1356911"/>
          </a:xfrm>
          <a:custGeom>
            <a:avLst/>
            <a:gdLst/>
            <a:ahLst/>
            <a:cxnLst/>
            <a:rect r="r" b="b" t="t" l="l"/>
            <a:pathLst>
              <a:path h="1356911" w="1356911">
                <a:moveTo>
                  <a:pt x="0" y="0"/>
                </a:moveTo>
                <a:lnTo>
                  <a:pt x="1356911" y="0"/>
                </a:lnTo>
                <a:lnTo>
                  <a:pt x="1356911" y="1356911"/>
                </a:lnTo>
                <a:lnTo>
                  <a:pt x="0" y="1356911"/>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23" id="23"/>
          <p:cNvSpPr txBox="true"/>
          <p:nvPr/>
        </p:nvSpPr>
        <p:spPr>
          <a:xfrm rot="0">
            <a:off x="1289292" y="5365280"/>
            <a:ext cx="3251924" cy="2290883"/>
          </a:xfrm>
          <a:prstGeom prst="rect">
            <a:avLst/>
          </a:prstGeom>
        </p:spPr>
        <p:txBody>
          <a:bodyPr anchor="t" rtlCol="false" tIns="0" lIns="0" bIns="0" rIns="0">
            <a:spAutoFit/>
          </a:bodyPr>
          <a:lstStyle/>
          <a:p>
            <a:pPr algn="ctr">
              <a:lnSpc>
                <a:spcPts val="2324"/>
              </a:lnSpc>
            </a:pPr>
            <a:r>
              <a:rPr lang="en-US" b="true" sz="2093" spc="100">
                <a:solidFill>
                  <a:srgbClr val="FFF6EA"/>
                </a:solidFill>
                <a:latin typeface="Nunito Bold"/>
                <a:ea typeface="Nunito Bold"/>
                <a:cs typeface="Nunito Bold"/>
                <a:sym typeface="Nunito Bold"/>
              </a:rPr>
              <a:t>Pulsing Hotspot Visualisation</a:t>
            </a:r>
          </a:p>
          <a:p>
            <a:pPr algn="just">
              <a:lnSpc>
                <a:spcPts val="2324"/>
              </a:lnSpc>
            </a:pPr>
            <a:r>
              <a:rPr lang="en-US" sz="2093" spc="100">
                <a:solidFill>
                  <a:srgbClr val="FFF6EA"/>
                </a:solidFill>
                <a:latin typeface="Nunito"/>
                <a:ea typeface="Nunito"/>
                <a:cs typeface="Nunito"/>
                <a:sym typeface="Nunito"/>
              </a:rPr>
              <a:t>Dynamic  effects on map markers show predicted disease spread patterns with temporal progression animations.</a:t>
            </a:r>
          </a:p>
          <a:p>
            <a:pPr algn="just" marL="0" indent="0" lvl="1">
              <a:lnSpc>
                <a:spcPts val="2324"/>
              </a:lnSpc>
            </a:pPr>
          </a:p>
        </p:txBody>
      </p:sp>
      <p:sp>
        <p:nvSpPr>
          <p:cNvPr name="TextBox 24" id="24"/>
          <p:cNvSpPr txBox="true"/>
          <p:nvPr/>
        </p:nvSpPr>
        <p:spPr>
          <a:xfrm rot="0">
            <a:off x="5524066" y="5365280"/>
            <a:ext cx="3251924" cy="2290883"/>
          </a:xfrm>
          <a:prstGeom prst="rect">
            <a:avLst/>
          </a:prstGeom>
        </p:spPr>
        <p:txBody>
          <a:bodyPr anchor="t" rtlCol="false" tIns="0" lIns="0" bIns="0" rIns="0">
            <a:spAutoFit/>
          </a:bodyPr>
          <a:lstStyle/>
          <a:p>
            <a:pPr algn="ctr">
              <a:lnSpc>
                <a:spcPts val="2324"/>
              </a:lnSpc>
            </a:pPr>
            <a:r>
              <a:rPr lang="en-US" b="true" sz="2093" spc="100">
                <a:solidFill>
                  <a:srgbClr val="FFF6EA"/>
                </a:solidFill>
                <a:latin typeface="Nunito Bold"/>
                <a:ea typeface="Nunito Bold"/>
                <a:cs typeface="Nunito Bold"/>
                <a:sym typeface="Nunito Bold"/>
              </a:rPr>
              <a:t>Animated Supply Chain Flows</a:t>
            </a:r>
          </a:p>
          <a:p>
            <a:pPr algn="just">
              <a:lnSpc>
                <a:spcPts val="2324"/>
              </a:lnSpc>
            </a:pPr>
            <a:r>
              <a:rPr lang="en-US" sz="2093" spc="100">
                <a:solidFill>
                  <a:srgbClr val="FFF6EA"/>
                </a:solidFill>
                <a:latin typeface="Nunito"/>
                <a:ea typeface="Nunito"/>
                <a:cs typeface="Nunito"/>
                <a:sym typeface="Nunito"/>
              </a:rPr>
              <a:t>Real-time visualisation of medicine moving across facilities, highlighting shortage risks instantly.</a:t>
            </a:r>
          </a:p>
          <a:p>
            <a:pPr algn="just" marL="0" indent="0" lvl="1">
              <a:lnSpc>
                <a:spcPts val="2324"/>
              </a:lnSpc>
            </a:pPr>
          </a:p>
        </p:txBody>
      </p:sp>
      <p:sp>
        <p:nvSpPr>
          <p:cNvPr name="TextBox 25" id="25"/>
          <p:cNvSpPr txBox="true"/>
          <p:nvPr/>
        </p:nvSpPr>
        <p:spPr>
          <a:xfrm rot="0">
            <a:off x="9757305" y="5365280"/>
            <a:ext cx="3251924" cy="2576633"/>
          </a:xfrm>
          <a:prstGeom prst="rect">
            <a:avLst/>
          </a:prstGeom>
        </p:spPr>
        <p:txBody>
          <a:bodyPr anchor="t" rtlCol="false" tIns="0" lIns="0" bIns="0" rIns="0">
            <a:spAutoFit/>
          </a:bodyPr>
          <a:lstStyle/>
          <a:p>
            <a:pPr algn="ctr">
              <a:lnSpc>
                <a:spcPts val="2324"/>
              </a:lnSpc>
            </a:pPr>
            <a:r>
              <a:rPr lang="en-US" b="true" sz="2093" spc="100">
                <a:solidFill>
                  <a:srgbClr val="FFF6EA"/>
                </a:solidFill>
                <a:latin typeface="Nunito Bold"/>
                <a:ea typeface="Nunito Bold"/>
                <a:cs typeface="Nunito Bold"/>
                <a:sym typeface="Nunito Bold"/>
              </a:rPr>
              <a:t>Multi-Layer Toggle System</a:t>
            </a:r>
          </a:p>
          <a:p>
            <a:pPr algn="just">
              <a:lnSpc>
                <a:spcPts val="2324"/>
              </a:lnSpc>
            </a:pPr>
            <a:r>
              <a:rPr lang="en-US" sz="2093" spc="100">
                <a:solidFill>
                  <a:srgbClr val="FFF6EA"/>
                </a:solidFill>
                <a:latin typeface="Nunito"/>
                <a:ea typeface="Nunito"/>
                <a:cs typeface="Nunito"/>
                <a:sym typeface="Nunito"/>
              </a:rPr>
              <a:t>Switch between outbreak predictions, bed capacity, medicine stocks, social sentiment, and weather overlays seamlessly.</a:t>
            </a:r>
          </a:p>
          <a:p>
            <a:pPr algn="just" marL="0" indent="0" lvl="1">
              <a:lnSpc>
                <a:spcPts val="2324"/>
              </a:lnSpc>
            </a:pPr>
          </a:p>
        </p:txBody>
      </p:sp>
      <p:sp>
        <p:nvSpPr>
          <p:cNvPr name="TextBox 26" id="26"/>
          <p:cNvSpPr txBox="true"/>
          <p:nvPr/>
        </p:nvSpPr>
        <p:spPr>
          <a:xfrm rot="0">
            <a:off x="13894477" y="5189594"/>
            <a:ext cx="3251924" cy="2576633"/>
          </a:xfrm>
          <a:prstGeom prst="rect">
            <a:avLst/>
          </a:prstGeom>
        </p:spPr>
        <p:txBody>
          <a:bodyPr anchor="t" rtlCol="false" tIns="0" lIns="0" bIns="0" rIns="0">
            <a:spAutoFit/>
          </a:bodyPr>
          <a:lstStyle/>
          <a:p>
            <a:pPr algn="ctr">
              <a:lnSpc>
                <a:spcPts val="2324"/>
              </a:lnSpc>
            </a:pPr>
            <a:r>
              <a:rPr lang="en-US" b="true" sz="2093" spc="100">
                <a:solidFill>
                  <a:srgbClr val="FFF6EA"/>
                </a:solidFill>
                <a:latin typeface="Nunito Bold"/>
                <a:ea typeface="Nunito Bold"/>
                <a:cs typeface="Nunito Bold"/>
                <a:sym typeface="Nunito Bold"/>
              </a:rPr>
              <a:t>Scenario Simulation Mode</a:t>
            </a:r>
          </a:p>
          <a:p>
            <a:pPr algn="just">
              <a:lnSpc>
                <a:spcPts val="2324"/>
              </a:lnSpc>
            </a:pPr>
            <a:r>
              <a:rPr lang="en-US" sz="2093" spc="100">
                <a:solidFill>
                  <a:srgbClr val="FFF6EA"/>
                </a:solidFill>
                <a:latin typeface="Nunito"/>
                <a:ea typeface="Nunito"/>
                <a:cs typeface="Nunito"/>
                <a:sym typeface="Nunito"/>
              </a:rPr>
              <a:t>Test "what-if" scenarios to model outbreak spikes or supply disruptions and evaluate response strategies before deployment.</a:t>
            </a:r>
          </a:p>
          <a:p>
            <a:pPr algn="just" marL="0" indent="0" lvl="1">
              <a:lnSpc>
                <a:spcPts val="2324"/>
              </a:lnSpc>
            </a:pPr>
          </a:p>
        </p:txBody>
      </p:sp>
      <p:sp>
        <p:nvSpPr>
          <p:cNvPr name="TextBox 27" id="27"/>
          <p:cNvSpPr txBox="true"/>
          <p:nvPr/>
        </p:nvSpPr>
        <p:spPr>
          <a:xfrm rot="0">
            <a:off x="2107042" y="1579401"/>
            <a:ext cx="13413398" cy="2334561"/>
          </a:xfrm>
          <a:prstGeom prst="rect">
            <a:avLst/>
          </a:prstGeom>
        </p:spPr>
        <p:txBody>
          <a:bodyPr anchor="t" rtlCol="false" tIns="0" lIns="0" bIns="0" rIns="0">
            <a:spAutoFit/>
          </a:bodyPr>
          <a:lstStyle/>
          <a:p>
            <a:pPr algn="ctr">
              <a:lnSpc>
                <a:spcPts val="9398"/>
              </a:lnSpc>
            </a:pPr>
            <a:r>
              <a:rPr lang="en-US" sz="6713" b="true">
                <a:solidFill>
                  <a:srgbClr val="610C9E"/>
                </a:solidFill>
                <a:latin typeface="Luktao Bold"/>
                <a:ea typeface="Luktao Bold"/>
                <a:cs typeface="Luktao Bold"/>
                <a:sym typeface="Luktao Bold"/>
              </a:rPr>
              <a:t>Key Features That Set Us Apart</a:t>
            </a:r>
          </a:p>
          <a:p>
            <a:pPr algn="ctr" marL="0" indent="0" lvl="0">
              <a:lnSpc>
                <a:spcPts val="9398"/>
              </a:lnSpc>
              <a:spcBef>
                <a:spcPct val="0"/>
              </a:spcBef>
            </a:pPr>
          </a:p>
        </p:txBody>
      </p:sp>
      <p:sp>
        <p:nvSpPr>
          <p:cNvPr name="TextBox 28" id="28"/>
          <p:cNvSpPr txBox="true"/>
          <p:nvPr/>
        </p:nvSpPr>
        <p:spPr>
          <a:xfrm rot="0">
            <a:off x="17052541" y="6365847"/>
            <a:ext cx="893500" cy="2288758"/>
          </a:xfrm>
          <a:prstGeom prst="rect">
            <a:avLst/>
          </a:prstGeom>
        </p:spPr>
        <p:txBody>
          <a:bodyPr anchor="t" rtlCol="false" tIns="0" lIns="0" bIns="0" rIns="0">
            <a:spAutoFit/>
          </a:bodyPr>
          <a:lstStyle/>
          <a:p>
            <a:pPr algn="l" marL="0" indent="0" lvl="1">
              <a:lnSpc>
                <a:spcPts val="18795"/>
              </a:lnSpc>
              <a:spcBef>
                <a:spcPct val="0"/>
              </a:spcBef>
            </a:pPr>
            <a:r>
              <a:rPr lang="en-US" b="true" sz="13425" spc="644" strike="noStrike" u="none">
                <a:solidFill>
                  <a:srgbClr val="9D34E8"/>
                </a:solidFill>
                <a:latin typeface="Luktao Ultra-Bold"/>
                <a:ea typeface="Luktao Ultra-Bold"/>
                <a:cs typeface="Luktao Ultra-Bold"/>
                <a:sym typeface="Luktao Ultra-Bold"/>
              </a:rPr>
              <a:t>+</a:t>
            </a:r>
          </a:p>
        </p:txBody>
      </p:sp>
      <p:sp>
        <p:nvSpPr>
          <p:cNvPr name="TextBox 29" id="29"/>
          <p:cNvSpPr txBox="true"/>
          <p:nvPr/>
        </p:nvSpPr>
        <p:spPr>
          <a:xfrm rot="0">
            <a:off x="3158484" y="8193682"/>
            <a:ext cx="893500" cy="2288758"/>
          </a:xfrm>
          <a:prstGeom prst="rect">
            <a:avLst/>
          </a:prstGeom>
        </p:spPr>
        <p:txBody>
          <a:bodyPr anchor="t" rtlCol="false" tIns="0" lIns="0" bIns="0" rIns="0">
            <a:spAutoFit/>
          </a:bodyPr>
          <a:lstStyle/>
          <a:p>
            <a:pPr algn="l" marL="0" indent="0" lvl="1">
              <a:lnSpc>
                <a:spcPts val="18795"/>
              </a:lnSpc>
              <a:spcBef>
                <a:spcPct val="0"/>
              </a:spcBef>
            </a:pPr>
            <a:r>
              <a:rPr lang="en-US" b="true" sz="13425" spc="644" strike="noStrike" u="none">
                <a:solidFill>
                  <a:srgbClr val="9D34E8"/>
                </a:solidFill>
                <a:latin typeface="Luktao Ultra-Bold"/>
                <a:ea typeface="Luktao Ultra-Bold"/>
                <a:cs typeface="Luktao Ultra-Bold"/>
                <a:sym typeface="Luktao Ultra-Bold"/>
              </a:rPr>
              <a:t>+</a:t>
            </a:r>
          </a:p>
        </p:txBody>
      </p:sp>
      <p:sp>
        <p:nvSpPr>
          <p:cNvPr name="TextBox 30" id="30"/>
          <p:cNvSpPr txBox="true"/>
          <p:nvPr/>
        </p:nvSpPr>
        <p:spPr>
          <a:xfrm rot="0">
            <a:off x="3872898" y="-615246"/>
            <a:ext cx="893500" cy="2288758"/>
          </a:xfrm>
          <a:prstGeom prst="rect">
            <a:avLst/>
          </a:prstGeom>
        </p:spPr>
        <p:txBody>
          <a:bodyPr anchor="t" rtlCol="false" tIns="0" lIns="0" bIns="0" rIns="0">
            <a:spAutoFit/>
          </a:bodyPr>
          <a:lstStyle/>
          <a:p>
            <a:pPr algn="l" marL="0" indent="0" lvl="1">
              <a:lnSpc>
                <a:spcPts val="18795"/>
              </a:lnSpc>
              <a:spcBef>
                <a:spcPct val="0"/>
              </a:spcBef>
            </a:pPr>
            <a:r>
              <a:rPr lang="en-US" b="true" sz="13425" spc="644" strike="noStrike" u="none">
                <a:solidFill>
                  <a:srgbClr val="9D34E8"/>
                </a:solidFill>
                <a:latin typeface="Luktao Ultra-Bold"/>
                <a:ea typeface="Luktao Ultra-Bold"/>
                <a:cs typeface="Luktao Ultra-Bold"/>
                <a:sym typeface="Luktao Ultra-Bold"/>
              </a:rPr>
              <a:t>+</a:t>
            </a:r>
          </a:p>
        </p:txBody>
      </p:sp>
      <p:sp>
        <p:nvSpPr>
          <p:cNvPr name="TextBox 31" id="31"/>
          <p:cNvSpPr txBox="true"/>
          <p:nvPr/>
        </p:nvSpPr>
        <p:spPr>
          <a:xfrm rot="0">
            <a:off x="15520439" y="6940159"/>
            <a:ext cx="667072" cy="1714446"/>
          </a:xfrm>
          <a:prstGeom prst="rect">
            <a:avLst/>
          </a:prstGeom>
        </p:spPr>
        <p:txBody>
          <a:bodyPr anchor="t" rtlCol="false" tIns="0" lIns="0" bIns="0" rIns="0">
            <a:spAutoFit/>
          </a:bodyPr>
          <a:lstStyle/>
          <a:p>
            <a:pPr algn="l" marL="0" indent="0" lvl="1">
              <a:lnSpc>
                <a:spcPts val="14033"/>
              </a:lnSpc>
              <a:spcBef>
                <a:spcPct val="0"/>
              </a:spcBef>
            </a:pPr>
            <a:r>
              <a:rPr lang="en-US" b="true" sz="10023" spc="481" strike="noStrike" u="none">
                <a:solidFill>
                  <a:srgbClr val="9D34E8"/>
                </a:solidFill>
                <a:latin typeface="Luktao Ultra-Bold"/>
                <a:ea typeface="Luktao Ultra-Bold"/>
                <a:cs typeface="Luktao Ultra-Bold"/>
                <a:sym typeface="Luktao Ultra-Bold"/>
              </a:rPr>
              <a:t>+</a:t>
            </a:r>
          </a:p>
        </p:txBody>
      </p:sp>
      <p:sp>
        <p:nvSpPr>
          <p:cNvPr name="TextBox 32" id="32"/>
          <p:cNvSpPr txBox="true"/>
          <p:nvPr/>
        </p:nvSpPr>
        <p:spPr>
          <a:xfrm rot="0">
            <a:off x="14804477" y="-40933"/>
            <a:ext cx="667111" cy="1714446"/>
          </a:xfrm>
          <a:prstGeom prst="rect">
            <a:avLst/>
          </a:prstGeom>
        </p:spPr>
        <p:txBody>
          <a:bodyPr anchor="t" rtlCol="false" tIns="0" lIns="0" bIns="0" rIns="0">
            <a:spAutoFit/>
          </a:bodyPr>
          <a:lstStyle/>
          <a:p>
            <a:pPr algn="l" marL="0" indent="0" lvl="1">
              <a:lnSpc>
                <a:spcPts val="14033"/>
              </a:lnSpc>
              <a:spcBef>
                <a:spcPct val="0"/>
              </a:spcBef>
            </a:pPr>
            <a:r>
              <a:rPr lang="en-US" b="true" sz="10023" spc="481" strike="noStrike" u="none">
                <a:solidFill>
                  <a:srgbClr val="9D34E8"/>
                </a:solidFill>
                <a:latin typeface="Luktao Ultra-Bold"/>
                <a:ea typeface="Luktao Ultra-Bold"/>
                <a:cs typeface="Luktao Ultra-Bold"/>
                <a:sym typeface="Luktao Ultra-Bold"/>
              </a:rPr>
              <a:t>+</a:t>
            </a:r>
          </a:p>
        </p:txBody>
      </p:sp>
      <p:sp>
        <p:nvSpPr>
          <p:cNvPr name="TextBox 33" id="33"/>
          <p:cNvSpPr txBox="true"/>
          <p:nvPr/>
        </p:nvSpPr>
        <p:spPr>
          <a:xfrm rot="0">
            <a:off x="17520616" y="1954815"/>
            <a:ext cx="1115294" cy="2862100"/>
          </a:xfrm>
          <a:prstGeom prst="rect">
            <a:avLst/>
          </a:prstGeom>
        </p:spPr>
        <p:txBody>
          <a:bodyPr anchor="t" rtlCol="false" tIns="0" lIns="0" bIns="0" rIns="0">
            <a:spAutoFit/>
          </a:bodyPr>
          <a:lstStyle/>
          <a:p>
            <a:pPr algn="l" marL="0" indent="0" lvl="1">
              <a:lnSpc>
                <a:spcPts val="23461"/>
              </a:lnSpc>
              <a:spcBef>
                <a:spcPct val="0"/>
              </a:spcBef>
            </a:pPr>
            <a:r>
              <a:rPr lang="en-US" b="true" sz="16758" spc="804" strike="noStrike" u="none">
                <a:solidFill>
                  <a:srgbClr val="9D34E8"/>
                </a:solidFill>
                <a:latin typeface="Luktao Ultra-Bold"/>
                <a:ea typeface="Luktao Ultra-Bold"/>
                <a:cs typeface="Luktao Ultra-Bold"/>
                <a:sym typeface="Luktao Ultra-Bold"/>
              </a:rPr>
              <a:t>+</a:t>
            </a:r>
          </a:p>
        </p:txBody>
      </p:sp>
      <p:sp>
        <p:nvSpPr>
          <p:cNvPr name="TextBox 34" id="34"/>
          <p:cNvSpPr txBox="true"/>
          <p:nvPr/>
        </p:nvSpPr>
        <p:spPr>
          <a:xfrm rot="0">
            <a:off x="1129232" y="6962199"/>
            <a:ext cx="667111" cy="1714446"/>
          </a:xfrm>
          <a:prstGeom prst="rect">
            <a:avLst/>
          </a:prstGeom>
        </p:spPr>
        <p:txBody>
          <a:bodyPr anchor="t" rtlCol="false" tIns="0" lIns="0" bIns="0" rIns="0">
            <a:spAutoFit/>
          </a:bodyPr>
          <a:lstStyle/>
          <a:p>
            <a:pPr algn="l" marL="0" indent="0" lvl="1">
              <a:lnSpc>
                <a:spcPts val="14033"/>
              </a:lnSpc>
              <a:spcBef>
                <a:spcPct val="0"/>
              </a:spcBef>
            </a:pPr>
            <a:r>
              <a:rPr lang="en-US" b="true" sz="10023" spc="481" strike="noStrike" u="none">
                <a:solidFill>
                  <a:srgbClr val="9D34E8"/>
                </a:solidFill>
                <a:latin typeface="Luktao Ultra-Bold"/>
                <a:ea typeface="Luktao Ultra-Bold"/>
                <a:cs typeface="Luktao Ultra-Bold"/>
                <a:sym typeface="Luktao Ultra-Bold"/>
              </a:rPr>
              <a:t>+</a:t>
            </a:r>
          </a:p>
        </p:txBody>
      </p:sp>
      <p:sp>
        <p:nvSpPr>
          <p:cNvPr name="TextBox 35" id="35"/>
          <p:cNvSpPr txBox="true"/>
          <p:nvPr/>
        </p:nvSpPr>
        <p:spPr>
          <a:xfrm rot="0">
            <a:off x="237109" y="1094148"/>
            <a:ext cx="667111" cy="1714446"/>
          </a:xfrm>
          <a:prstGeom prst="rect">
            <a:avLst/>
          </a:prstGeom>
        </p:spPr>
        <p:txBody>
          <a:bodyPr anchor="t" rtlCol="false" tIns="0" lIns="0" bIns="0" rIns="0">
            <a:spAutoFit/>
          </a:bodyPr>
          <a:lstStyle/>
          <a:p>
            <a:pPr algn="l" marL="0" indent="0" lvl="1">
              <a:lnSpc>
                <a:spcPts val="14033"/>
              </a:lnSpc>
              <a:spcBef>
                <a:spcPct val="0"/>
              </a:spcBef>
            </a:pPr>
            <a:r>
              <a:rPr lang="en-US" b="true" sz="10023" spc="481" strike="noStrike" u="none">
                <a:solidFill>
                  <a:srgbClr val="9D34E8"/>
                </a:solidFill>
                <a:latin typeface="Luktao Ultra-Bold"/>
                <a:ea typeface="Luktao Ultra-Bold"/>
                <a:cs typeface="Luktao Ultra-Bold"/>
                <a:sym typeface="Luktao Ultra-Bold"/>
              </a:rPr>
              <a: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2459265" y="3635673"/>
            <a:ext cx="1154173" cy="1507827"/>
          </a:xfrm>
          <a:custGeom>
            <a:avLst/>
            <a:gdLst/>
            <a:ahLst/>
            <a:cxnLst/>
            <a:rect r="r" b="b" t="t" l="l"/>
            <a:pathLst>
              <a:path h="1507827" w="1154173">
                <a:moveTo>
                  <a:pt x="0" y="0"/>
                </a:moveTo>
                <a:lnTo>
                  <a:pt x="1154173" y="0"/>
                </a:lnTo>
                <a:lnTo>
                  <a:pt x="1154173" y="1507827"/>
                </a:lnTo>
                <a:lnTo>
                  <a:pt x="0" y="15078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4555500">
            <a:off x="14967718" y="2613265"/>
            <a:ext cx="3471395" cy="4114800"/>
          </a:xfrm>
          <a:custGeom>
            <a:avLst/>
            <a:gdLst/>
            <a:ahLst/>
            <a:cxnLst/>
            <a:rect r="r" b="b" t="t" l="l"/>
            <a:pathLst>
              <a:path h="4114800" w="3471395">
                <a:moveTo>
                  <a:pt x="0" y="0"/>
                </a:moveTo>
                <a:lnTo>
                  <a:pt x="3471395" y="0"/>
                </a:lnTo>
                <a:lnTo>
                  <a:pt x="347139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109755">
            <a:off x="12242079" y="-701798"/>
            <a:ext cx="1990835" cy="2499907"/>
          </a:xfrm>
          <a:custGeom>
            <a:avLst/>
            <a:gdLst/>
            <a:ahLst/>
            <a:cxnLst/>
            <a:rect r="r" b="b" t="t" l="l"/>
            <a:pathLst>
              <a:path h="2499907" w="1990835">
                <a:moveTo>
                  <a:pt x="0" y="0"/>
                </a:moveTo>
                <a:lnTo>
                  <a:pt x="1990835" y="0"/>
                </a:lnTo>
                <a:lnTo>
                  <a:pt x="1990835" y="2499907"/>
                </a:lnTo>
                <a:lnTo>
                  <a:pt x="0" y="249990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746507">
            <a:off x="15368712" y="7606831"/>
            <a:ext cx="2360099" cy="3302938"/>
          </a:xfrm>
          <a:custGeom>
            <a:avLst/>
            <a:gdLst/>
            <a:ahLst/>
            <a:cxnLst/>
            <a:rect r="r" b="b" t="t" l="l"/>
            <a:pathLst>
              <a:path h="3302938" w="2360099">
                <a:moveTo>
                  <a:pt x="0" y="0"/>
                </a:moveTo>
                <a:lnTo>
                  <a:pt x="2360100" y="0"/>
                </a:lnTo>
                <a:lnTo>
                  <a:pt x="2360100" y="3302938"/>
                </a:lnTo>
                <a:lnTo>
                  <a:pt x="0" y="330293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2271449">
            <a:off x="14907680" y="-983974"/>
            <a:ext cx="3879425" cy="3357466"/>
          </a:xfrm>
          <a:custGeom>
            <a:avLst/>
            <a:gdLst/>
            <a:ahLst/>
            <a:cxnLst/>
            <a:rect r="r" b="b" t="t" l="l"/>
            <a:pathLst>
              <a:path h="3357466" w="3879425">
                <a:moveTo>
                  <a:pt x="0" y="0"/>
                </a:moveTo>
                <a:lnTo>
                  <a:pt x="3879425" y="0"/>
                </a:lnTo>
                <a:lnTo>
                  <a:pt x="3879425" y="3357466"/>
                </a:lnTo>
                <a:lnTo>
                  <a:pt x="0" y="335746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1028700" y="876300"/>
            <a:ext cx="11151477" cy="2810212"/>
          </a:xfrm>
          <a:prstGeom prst="rect">
            <a:avLst/>
          </a:prstGeom>
        </p:spPr>
        <p:txBody>
          <a:bodyPr anchor="t" rtlCol="false" tIns="0" lIns="0" bIns="0" rIns="0">
            <a:spAutoFit/>
          </a:bodyPr>
          <a:lstStyle/>
          <a:p>
            <a:pPr algn="l">
              <a:lnSpc>
                <a:spcPts val="10749"/>
              </a:lnSpc>
            </a:pPr>
            <a:r>
              <a:rPr lang="en-US" sz="7677" b="true">
                <a:solidFill>
                  <a:srgbClr val="610C9E"/>
                </a:solidFill>
                <a:latin typeface="Luktao Bold"/>
                <a:ea typeface="Luktao Bold"/>
                <a:cs typeface="Luktao Bold"/>
                <a:sym typeface="Luktao Bold"/>
              </a:rPr>
              <a:t>Intelligent Prediction Models</a:t>
            </a:r>
          </a:p>
          <a:p>
            <a:pPr algn="l" marL="0" indent="0" lvl="0">
              <a:lnSpc>
                <a:spcPts val="233"/>
              </a:lnSpc>
              <a:spcBef>
                <a:spcPct val="0"/>
              </a:spcBef>
            </a:pPr>
          </a:p>
        </p:txBody>
      </p:sp>
      <p:grpSp>
        <p:nvGrpSpPr>
          <p:cNvPr name="Group 8" id="8"/>
          <p:cNvGrpSpPr/>
          <p:nvPr/>
        </p:nvGrpSpPr>
        <p:grpSpPr>
          <a:xfrm rot="0">
            <a:off x="1028700" y="5458207"/>
            <a:ext cx="4015303" cy="513391"/>
            <a:chOff x="0" y="0"/>
            <a:chExt cx="1057528" cy="135214"/>
          </a:xfrm>
        </p:grpSpPr>
        <p:sp>
          <p:nvSpPr>
            <p:cNvPr name="Freeform 9" id="9"/>
            <p:cNvSpPr/>
            <p:nvPr/>
          </p:nvSpPr>
          <p:spPr>
            <a:xfrm flipH="false" flipV="false" rot="0">
              <a:off x="0" y="0"/>
              <a:ext cx="1057528" cy="135214"/>
            </a:xfrm>
            <a:custGeom>
              <a:avLst/>
              <a:gdLst/>
              <a:ahLst/>
              <a:cxnLst/>
              <a:rect r="r" b="b" t="t" l="l"/>
              <a:pathLst>
                <a:path h="135214" w="1057528">
                  <a:moveTo>
                    <a:pt x="25065" y="0"/>
                  </a:moveTo>
                  <a:lnTo>
                    <a:pt x="1032463" y="0"/>
                  </a:lnTo>
                  <a:cubicBezTo>
                    <a:pt x="1039111" y="0"/>
                    <a:pt x="1045486" y="2641"/>
                    <a:pt x="1050187" y="7341"/>
                  </a:cubicBezTo>
                  <a:cubicBezTo>
                    <a:pt x="1054887" y="12042"/>
                    <a:pt x="1057528" y="18418"/>
                    <a:pt x="1057528" y="25065"/>
                  </a:cubicBezTo>
                  <a:lnTo>
                    <a:pt x="1057528" y="110149"/>
                  </a:lnTo>
                  <a:cubicBezTo>
                    <a:pt x="1057528" y="116797"/>
                    <a:pt x="1054887" y="123172"/>
                    <a:pt x="1050187" y="127873"/>
                  </a:cubicBezTo>
                  <a:cubicBezTo>
                    <a:pt x="1045486" y="132573"/>
                    <a:pt x="1039111" y="135214"/>
                    <a:pt x="1032463" y="135214"/>
                  </a:cubicBezTo>
                  <a:lnTo>
                    <a:pt x="25065" y="135214"/>
                  </a:lnTo>
                  <a:cubicBezTo>
                    <a:pt x="18418" y="135214"/>
                    <a:pt x="12042" y="132573"/>
                    <a:pt x="7341" y="127873"/>
                  </a:cubicBezTo>
                  <a:cubicBezTo>
                    <a:pt x="2641" y="123172"/>
                    <a:pt x="0" y="116797"/>
                    <a:pt x="0" y="110149"/>
                  </a:cubicBezTo>
                  <a:lnTo>
                    <a:pt x="0" y="25065"/>
                  </a:lnTo>
                  <a:cubicBezTo>
                    <a:pt x="0" y="18418"/>
                    <a:pt x="2641" y="12042"/>
                    <a:pt x="7341" y="7341"/>
                  </a:cubicBezTo>
                  <a:cubicBezTo>
                    <a:pt x="12042" y="2641"/>
                    <a:pt x="18418" y="0"/>
                    <a:pt x="25065" y="0"/>
                  </a:cubicBezTo>
                  <a:close/>
                </a:path>
              </a:pathLst>
            </a:custGeom>
            <a:solidFill>
              <a:srgbClr val="21C2D1"/>
            </a:solidFill>
          </p:spPr>
        </p:sp>
        <p:sp>
          <p:nvSpPr>
            <p:cNvPr name="TextBox 10" id="10"/>
            <p:cNvSpPr txBox="true"/>
            <p:nvPr/>
          </p:nvSpPr>
          <p:spPr>
            <a:xfrm>
              <a:off x="0" y="-47625"/>
              <a:ext cx="1057528" cy="182839"/>
            </a:xfrm>
            <a:prstGeom prst="rect">
              <a:avLst/>
            </a:prstGeom>
          </p:spPr>
          <p:txBody>
            <a:bodyPr anchor="ctr" rtlCol="false" tIns="0" lIns="0" bIns="0" rIns="0"/>
            <a:lstStyle/>
            <a:p>
              <a:pPr algn="ctr">
                <a:lnSpc>
                  <a:spcPts val="2729"/>
                </a:lnSpc>
              </a:pPr>
              <a:r>
                <a:rPr lang="en-US" b="true" sz="1949" spc="93">
                  <a:solidFill>
                    <a:srgbClr val="FFF6EA"/>
                  </a:solidFill>
                  <a:latin typeface="Nunito Bold"/>
                  <a:ea typeface="Nunito Bold"/>
                  <a:cs typeface="Nunito Bold"/>
                  <a:sym typeface="Nunito Bold"/>
                </a:rPr>
                <a:t>01</a:t>
              </a:r>
            </a:p>
          </p:txBody>
        </p:sp>
      </p:grpSp>
      <p:grpSp>
        <p:nvGrpSpPr>
          <p:cNvPr name="Group 11" id="11"/>
          <p:cNvGrpSpPr/>
          <p:nvPr/>
        </p:nvGrpSpPr>
        <p:grpSpPr>
          <a:xfrm rot="0">
            <a:off x="5892788" y="5458207"/>
            <a:ext cx="4015303" cy="513391"/>
            <a:chOff x="0" y="0"/>
            <a:chExt cx="1057528" cy="135214"/>
          </a:xfrm>
        </p:grpSpPr>
        <p:sp>
          <p:nvSpPr>
            <p:cNvPr name="Freeform 12" id="12"/>
            <p:cNvSpPr/>
            <p:nvPr/>
          </p:nvSpPr>
          <p:spPr>
            <a:xfrm flipH="false" flipV="false" rot="0">
              <a:off x="0" y="0"/>
              <a:ext cx="1057528" cy="135214"/>
            </a:xfrm>
            <a:custGeom>
              <a:avLst/>
              <a:gdLst/>
              <a:ahLst/>
              <a:cxnLst/>
              <a:rect r="r" b="b" t="t" l="l"/>
              <a:pathLst>
                <a:path h="135214" w="1057528">
                  <a:moveTo>
                    <a:pt x="25065" y="0"/>
                  </a:moveTo>
                  <a:lnTo>
                    <a:pt x="1032463" y="0"/>
                  </a:lnTo>
                  <a:cubicBezTo>
                    <a:pt x="1039111" y="0"/>
                    <a:pt x="1045486" y="2641"/>
                    <a:pt x="1050187" y="7341"/>
                  </a:cubicBezTo>
                  <a:cubicBezTo>
                    <a:pt x="1054887" y="12042"/>
                    <a:pt x="1057528" y="18418"/>
                    <a:pt x="1057528" y="25065"/>
                  </a:cubicBezTo>
                  <a:lnTo>
                    <a:pt x="1057528" y="110149"/>
                  </a:lnTo>
                  <a:cubicBezTo>
                    <a:pt x="1057528" y="116797"/>
                    <a:pt x="1054887" y="123172"/>
                    <a:pt x="1050187" y="127873"/>
                  </a:cubicBezTo>
                  <a:cubicBezTo>
                    <a:pt x="1045486" y="132573"/>
                    <a:pt x="1039111" y="135214"/>
                    <a:pt x="1032463" y="135214"/>
                  </a:cubicBezTo>
                  <a:lnTo>
                    <a:pt x="25065" y="135214"/>
                  </a:lnTo>
                  <a:cubicBezTo>
                    <a:pt x="18418" y="135214"/>
                    <a:pt x="12042" y="132573"/>
                    <a:pt x="7341" y="127873"/>
                  </a:cubicBezTo>
                  <a:cubicBezTo>
                    <a:pt x="2641" y="123172"/>
                    <a:pt x="0" y="116797"/>
                    <a:pt x="0" y="110149"/>
                  </a:cubicBezTo>
                  <a:lnTo>
                    <a:pt x="0" y="25065"/>
                  </a:lnTo>
                  <a:cubicBezTo>
                    <a:pt x="0" y="18418"/>
                    <a:pt x="2641" y="12042"/>
                    <a:pt x="7341" y="7341"/>
                  </a:cubicBezTo>
                  <a:cubicBezTo>
                    <a:pt x="12042" y="2641"/>
                    <a:pt x="18418" y="0"/>
                    <a:pt x="25065" y="0"/>
                  </a:cubicBezTo>
                  <a:close/>
                </a:path>
              </a:pathLst>
            </a:custGeom>
            <a:solidFill>
              <a:srgbClr val="E82D8F"/>
            </a:solidFill>
          </p:spPr>
        </p:sp>
        <p:sp>
          <p:nvSpPr>
            <p:cNvPr name="TextBox 13" id="13"/>
            <p:cNvSpPr txBox="true"/>
            <p:nvPr/>
          </p:nvSpPr>
          <p:spPr>
            <a:xfrm>
              <a:off x="0" y="-47625"/>
              <a:ext cx="1057528" cy="182839"/>
            </a:xfrm>
            <a:prstGeom prst="rect">
              <a:avLst/>
            </a:prstGeom>
          </p:spPr>
          <p:txBody>
            <a:bodyPr anchor="ctr" rtlCol="false" tIns="0" lIns="0" bIns="0" rIns="0"/>
            <a:lstStyle/>
            <a:p>
              <a:pPr algn="ctr">
                <a:lnSpc>
                  <a:spcPts val="2729"/>
                </a:lnSpc>
              </a:pPr>
              <a:r>
                <a:rPr lang="en-US" b="true" sz="1949" spc="93">
                  <a:solidFill>
                    <a:srgbClr val="FFF6EA"/>
                  </a:solidFill>
                  <a:latin typeface="Nunito Bold"/>
                  <a:ea typeface="Nunito Bold"/>
                  <a:cs typeface="Nunito Bold"/>
                  <a:sym typeface="Nunito Bold"/>
                </a:rPr>
                <a:t>02</a:t>
              </a:r>
            </a:p>
          </p:txBody>
        </p:sp>
      </p:grpSp>
      <p:grpSp>
        <p:nvGrpSpPr>
          <p:cNvPr name="Group 14" id="14"/>
          <p:cNvGrpSpPr/>
          <p:nvPr/>
        </p:nvGrpSpPr>
        <p:grpSpPr>
          <a:xfrm rot="0">
            <a:off x="10755816" y="5458207"/>
            <a:ext cx="4015303" cy="513391"/>
            <a:chOff x="0" y="0"/>
            <a:chExt cx="1057528" cy="135214"/>
          </a:xfrm>
        </p:grpSpPr>
        <p:sp>
          <p:nvSpPr>
            <p:cNvPr name="Freeform 15" id="15"/>
            <p:cNvSpPr/>
            <p:nvPr/>
          </p:nvSpPr>
          <p:spPr>
            <a:xfrm flipH="false" flipV="false" rot="0">
              <a:off x="0" y="0"/>
              <a:ext cx="1057528" cy="135214"/>
            </a:xfrm>
            <a:custGeom>
              <a:avLst/>
              <a:gdLst/>
              <a:ahLst/>
              <a:cxnLst/>
              <a:rect r="r" b="b" t="t" l="l"/>
              <a:pathLst>
                <a:path h="135214" w="1057528">
                  <a:moveTo>
                    <a:pt x="25065" y="0"/>
                  </a:moveTo>
                  <a:lnTo>
                    <a:pt x="1032463" y="0"/>
                  </a:lnTo>
                  <a:cubicBezTo>
                    <a:pt x="1039111" y="0"/>
                    <a:pt x="1045486" y="2641"/>
                    <a:pt x="1050187" y="7341"/>
                  </a:cubicBezTo>
                  <a:cubicBezTo>
                    <a:pt x="1054887" y="12042"/>
                    <a:pt x="1057528" y="18418"/>
                    <a:pt x="1057528" y="25065"/>
                  </a:cubicBezTo>
                  <a:lnTo>
                    <a:pt x="1057528" y="110149"/>
                  </a:lnTo>
                  <a:cubicBezTo>
                    <a:pt x="1057528" y="116797"/>
                    <a:pt x="1054887" y="123172"/>
                    <a:pt x="1050187" y="127873"/>
                  </a:cubicBezTo>
                  <a:cubicBezTo>
                    <a:pt x="1045486" y="132573"/>
                    <a:pt x="1039111" y="135214"/>
                    <a:pt x="1032463" y="135214"/>
                  </a:cubicBezTo>
                  <a:lnTo>
                    <a:pt x="25065" y="135214"/>
                  </a:lnTo>
                  <a:cubicBezTo>
                    <a:pt x="18418" y="135214"/>
                    <a:pt x="12042" y="132573"/>
                    <a:pt x="7341" y="127873"/>
                  </a:cubicBezTo>
                  <a:cubicBezTo>
                    <a:pt x="2641" y="123172"/>
                    <a:pt x="0" y="116797"/>
                    <a:pt x="0" y="110149"/>
                  </a:cubicBezTo>
                  <a:lnTo>
                    <a:pt x="0" y="25065"/>
                  </a:lnTo>
                  <a:cubicBezTo>
                    <a:pt x="0" y="18418"/>
                    <a:pt x="2641" y="12042"/>
                    <a:pt x="7341" y="7341"/>
                  </a:cubicBezTo>
                  <a:cubicBezTo>
                    <a:pt x="12042" y="2641"/>
                    <a:pt x="18418" y="0"/>
                    <a:pt x="25065" y="0"/>
                  </a:cubicBezTo>
                  <a:close/>
                </a:path>
              </a:pathLst>
            </a:custGeom>
            <a:solidFill>
              <a:srgbClr val="FFAE39"/>
            </a:solidFill>
          </p:spPr>
        </p:sp>
        <p:sp>
          <p:nvSpPr>
            <p:cNvPr name="TextBox 16" id="16"/>
            <p:cNvSpPr txBox="true"/>
            <p:nvPr/>
          </p:nvSpPr>
          <p:spPr>
            <a:xfrm>
              <a:off x="0" y="-47625"/>
              <a:ext cx="1057528" cy="182839"/>
            </a:xfrm>
            <a:prstGeom prst="rect">
              <a:avLst/>
            </a:prstGeom>
          </p:spPr>
          <p:txBody>
            <a:bodyPr anchor="ctr" rtlCol="false" tIns="0" lIns="0" bIns="0" rIns="0"/>
            <a:lstStyle/>
            <a:p>
              <a:pPr algn="ctr">
                <a:lnSpc>
                  <a:spcPts val="2729"/>
                </a:lnSpc>
              </a:pPr>
              <a:r>
                <a:rPr lang="en-US" b="true" sz="1949" spc="93">
                  <a:solidFill>
                    <a:srgbClr val="FFF6EA"/>
                  </a:solidFill>
                  <a:latin typeface="Nunito Bold"/>
                  <a:ea typeface="Nunito Bold"/>
                  <a:cs typeface="Nunito Bold"/>
                  <a:sym typeface="Nunito Bold"/>
                </a:rPr>
                <a:t> 03</a:t>
              </a:r>
            </a:p>
          </p:txBody>
        </p:sp>
      </p:grpSp>
      <p:sp>
        <p:nvSpPr>
          <p:cNvPr name="Freeform 17" id="17"/>
          <p:cNvSpPr/>
          <p:nvPr/>
        </p:nvSpPr>
        <p:spPr>
          <a:xfrm flipH="false" flipV="false" rot="0">
            <a:off x="7125703" y="3635673"/>
            <a:ext cx="1549474" cy="1526936"/>
          </a:xfrm>
          <a:custGeom>
            <a:avLst/>
            <a:gdLst/>
            <a:ahLst/>
            <a:cxnLst/>
            <a:rect r="r" b="b" t="t" l="l"/>
            <a:pathLst>
              <a:path h="1526936" w="1549474">
                <a:moveTo>
                  <a:pt x="0" y="0"/>
                </a:moveTo>
                <a:lnTo>
                  <a:pt x="1549473" y="0"/>
                </a:lnTo>
                <a:lnTo>
                  <a:pt x="1549473" y="1526935"/>
                </a:lnTo>
                <a:lnTo>
                  <a:pt x="0" y="152693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18" id="18"/>
          <p:cNvSpPr/>
          <p:nvPr/>
        </p:nvSpPr>
        <p:spPr>
          <a:xfrm flipH="false" flipV="false" rot="0">
            <a:off x="11703875" y="3635673"/>
            <a:ext cx="1656088" cy="1628989"/>
          </a:xfrm>
          <a:custGeom>
            <a:avLst/>
            <a:gdLst/>
            <a:ahLst/>
            <a:cxnLst/>
            <a:rect r="r" b="b" t="t" l="l"/>
            <a:pathLst>
              <a:path h="1628989" w="1656088">
                <a:moveTo>
                  <a:pt x="0" y="0"/>
                </a:moveTo>
                <a:lnTo>
                  <a:pt x="1656088" y="0"/>
                </a:lnTo>
                <a:lnTo>
                  <a:pt x="1656088" y="1628988"/>
                </a:lnTo>
                <a:lnTo>
                  <a:pt x="0" y="162898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TextBox 19" id="19"/>
          <p:cNvSpPr txBox="true"/>
          <p:nvPr/>
        </p:nvSpPr>
        <p:spPr>
          <a:xfrm rot="0">
            <a:off x="1188562" y="6247824"/>
            <a:ext cx="4015303" cy="3496948"/>
          </a:xfrm>
          <a:prstGeom prst="rect">
            <a:avLst/>
          </a:prstGeom>
        </p:spPr>
        <p:txBody>
          <a:bodyPr anchor="t" rtlCol="false" tIns="0" lIns="0" bIns="0" rIns="0">
            <a:spAutoFit/>
          </a:bodyPr>
          <a:lstStyle/>
          <a:p>
            <a:pPr algn="just">
              <a:lnSpc>
                <a:spcPts val="3079"/>
              </a:lnSpc>
            </a:pPr>
            <a:r>
              <a:rPr lang="en-US" b="true" sz="2199" spc="105">
                <a:solidFill>
                  <a:srgbClr val="202330"/>
                </a:solidFill>
                <a:latin typeface="Nunito Bold"/>
                <a:ea typeface="Nunito Bold"/>
                <a:cs typeface="Nunito Bold"/>
                <a:sym typeface="Nunito Bold"/>
              </a:rPr>
              <a:t>Outbreak Forecasting</a:t>
            </a:r>
          </a:p>
          <a:p>
            <a:pPr algn="just">
              <a:lnSpc>
                <a:spcPts val="3079"/>
              </a:lnSpc>
            </a:pPr>
            <a:r>
              <a:rPr lang="en-US" sz="2199" spc="105">
                <a:solidFill>
                  <a:srgbClr val="202330"/>
                </a:solidFill>
                <a:latin typeface="Nunito"/>
                <a:ea typeface="Nunito"/>
                <a:cs typeface="Nunito"/>
                <a:sym typeface="Nunito"/>
              </a:rPr>
              <a:t>Time-series algorithms  analyse historical patterns, environmental factors, and mobility data to predict disease case trajectories with geographical granularity.</a:t>
            </a:r>
          </a:p>
          <a:p>
            <a:pPr algn="just" marL="0" indent="0" lvl="1">
              <a:lnSpc>
                <a:spcPts val="3079"/>
              </a:lnSpc>
              <a:spcBef>
                <a:spcPct val="0"/>
              </a:spcBef>
            </a:pPr>
          </a:p>
        </p:txBody>
      </p:sp>
      <p:sp>
        <p:nvSpPr>
          <p:cNvPr name="TextBox 20" id="20"/>
          <p:cNvSpPr txBox="true"/>
          <p:nvPr/>
        </p:nvSpPr>
        <p:spPr>
          <a:xfrm rot="0">
            <a:off x="5972189" y="6228774"/>
            <a:ext cx="4015303" cy="3496948"/>
          </a:xfrm>
          <a:prstGeom prst="rect">
            <a:avLst/>
          </a:prstGeom>
        </p:spPr>
        <p:txBody>
          <a:bodyPr anchor="t" rtlCol="false" tIns="0" lIns="0" bIns="0" rIns="0">
            <a:spAutoFit/>
          </a:bodyPr>
          <a:lstStyle/>
          <a:p>
            <a:pPr algn="just">
              <a:lnSpc>
                <a:spcPts val="3079"/>
              </a:lnSpc>
            </a:pPr>
            <a:r>
              <a:rPr lang="en-US" b="true" sz="2199" spc="105">
                <a:solidFill>
                  <a:srgbClr val="202330"/>
                </a:solidFill>
                <a:latin typeface="Nunito Bold"/>
                <a:ea typeface="Nunito Bold"/>
                <a:cs typeface="Nunito Bold"/>
                <a:sym typeface="Nunito Bold"/>
              </a:rPr>
              <a:t>Resource Shortage Prediction</a:t>
            </a:r>
          </a:p>
          <a:p>
            <a:pPr algn="just">
              <a:lnSpc>
                <a:spcPts val="3079"/>
              </a:lnSpc>
            </a:pPr>
            <a:r>
              <a:rPr lang="en-US" sz="2199" spc="105">
                <a:solidFill>
                  <a:srgbClr val="202330"/>
                </a:solidFill>
                <a:latin typeface="Nunito"/>
                <a:ea typeface="Nunito"/>
                <a:cs typeface="Nunito"/>
                <a:sym typeface="Nunito"/>
              </a:rPr>
              <a:t>Regression models correlate consumption rates, outbreak intensity, and seasonal trends to forecast medicine and bed shortages 7-14 days ahead.</a:t>
            </a:r>
          </a:p>
          <a:p>
            <a:pPr algn="just" marL="0" indent="0" lvl="1">
              <a:lnSpc>
                <a:spcPts val="3079"/>
              </a:lnSpc>
              <a:spcBef>
                <a:spcPct val="0"/>
              </a:spcBef>
            </a:pPr>
          </a:p>
        </p:txBody>
      </p:sp>
      <p:sp>
        <p:nvSpPr>
          <p:cNvPr name="TextBox 21" id="21"/>
          <p:cNvSpPr txBox="true"/>
          <p:nvPr/>
        </p:nvSpPr>
        <p:spPr>
          <a:xfrm rot="0">
            <a:off x="13548646" y="367091"/>
            <a:ext cx="1474057" cy="3530871"/>
          </a:xfrm>
          <a:prstGeom prst="rect">
            <a:avLst/>
          </a:prstGeom>
        </p:spPr>
        <p:txBody>
          <a:bodyPr anchor="t" rtlCol="false" tIns="0" lIns="0" bIns="0" rIns="0">
            <a:spAutoFit/>
          </a:bodyPr>
          <a:lstStyle/>
          <a:p>
            <a:pPr algn="l" marL="0" indent="0" lvl="1">
              <a:lnSpc>
                <a:spcPts val="28830"/>
              </a:lnSpc>
              <a:spcBef>
                <a:spcPct val="0"/>
              </a:spcBef>
            </a:pPr>
            <a:r>
              <a:rPr lang="en-US" b="true" sz="20593" spc="988" strike="noStrike" u="none">
                <a:solidFill>
                  <a:srgbClr val="9D34E8"/>
                </a:solidFill>
                <a:latin typeface="Luktao Ultra-Bold"/>
                <a:ea typeface="Luktao Ultra-Bold"/>
                <a:cs typeface="Luktao Ultra-Bold"/>
                <a:sym typeface="Luktao Ultra-Bold"/>
              </a:rPr>
              <a:t>+</a:t>
            </a:r>
          </a:p>
        </p:txBody>
      </p:sp>
      <p:sp>
        <p:nvSpPr>
          <p:cNvPr name="TextBox 22" id="22"/>
          <p:cNvSpPr txBox="true"/>
          <p:nvPr/>
        </p:nvSpPr>
        <p:spPr>
          <a:xfrm rot="0">
            <a:off x="15859547" y="5729830"/>
            <a:ext cx="843869" cy="2020934"/>
          </a:xfrm>
          <a:prstGeom prst="rect">
            <a:avLst/>
          </a:prstGeom>
        </p:spPr>
        <p:txBody>
          <a:bodyPr anchor="t" rtlCol="false" tIns="0" lIns="0" bIns="0" rIns="0">
            <a:spAutoFit/>
          </a:bodyPr>
          <a:lstStyle/>
          <a:p>
            <a:pPr algn="l" marL="0" indent="0" lvl="1">
              <a:lnSpc>
                <a:spcPts val="16504"/>
              </a:lnSpc>
              <a:spcBef>
                <a:spcPct val="0"/>
              </a:spcBef>
            </a:pPr>
            <a:r>
              <a:rPr lang="en-US" b="true" sz="11789" spc="565" strike="noStrike" u="none">
                <a:solidFill>
                  <a:srgbClr val="9D34E8"/>
                </a:solidFill>
                <a:latin typeface="Luktao Ultra-Bold"/>
                <a:ea typeface="Luktao Ultra-Bold"/>
                <a:cs typeface="Luktao Ultra-Bold"/>
                <a:sym typeface="Luktao Ultra-Bold"/>
              </a:rPr>
              <a:t>+</a:t>
            </a:r>
          </a:p>
        </p:txBody>
      </p:sp>
      <p:sp>
        <p:nvSpPr>
          <p:cNvPr name="TextBox 23" id="23"/>
          <p:cNvSpPr txBox="true"/>
          <p:nvPr/>
        </p:nvSpPr>
        <p:spPr>
          <a:xfrm rot="0">
            <a:off x="13237497" y="7870961"/>
            <a:ext cx="1485698" cy="3555596"/>
          </a:xfrm>
          <a:prstGeom prst="rect">
            <a:avLst/>
          </a:prstGeom>
        </p:spPr>
        <p:txBody>
          <a:bodyPr anchor="t" rtlCol="false" tIns="0" lIns="0" bIns="0" rIns="0">
            <a:spAutoFit/>
          </a:bodyPr>
          <a:lstStyle/>
          <a:p>
            <a:pPr algn="l" marL="0" indent="0" lvl="1">
              <a:lnSpc>
                <a:spcPts val="29058"/>
              </a:lnSpc>
              <a:spcBef>
                <a:spcPct val="0"/>
              </a:spcBef>
            </a:pPr>
            <a:r>
              <a:rPr lang="en-US" b="true" sz="20755" spc="996" strike="noStrike" u="none">
                <a:solidFill>
                  <a:srgbClr val="9D34E8"/>
                </a:solidFill>
                <a:latin typeface="Luktao Ultra-Bold"/>
                <a:ea typeface="Luktao Ultra-Bold"/>
                <a:cs typeface="Luktao Ultra-Bold"/>
                <a:sym typeface="Luktao Ultra-Bold"/>
              </a:rPr>
              <a:t>+</a:t>
            </a:r>
          </a:p>
        </p:txBody>
      </p:sp>
      <p:sp>
        <p:nvSpPr>
          <p:cNvPr name="TextBox 24" id="24"/>
          <p:cNvSpPr txBox="true"/>
          <p:nvPr/>
        </p:nvSpPr>
        <p:spPr>
          <a:xfrm rot="0">
            <a:off x="10755816" y="6301737"/>
            <a:ext cx="4015303" cy="3180083"/>
          </a:xfrm>
          <a:prstGeom prst="rect">
            <a:avLst/>
          </a:prstGeom>
        </p:spPr>
        <p:txBody>
          <a:bodyPr anchor="t" rtlCol="false" tIns="0" lIns="0" bIns="0" rIns="0">
            <a:spAutoFit/>
          </a:bodyPr>
          <a:lstStyle/>
          <a:p>
            <a:pPr algn="just">
              <a:lnSpc>
                <a:spcPts val="3219"/>
              </a:lnSpc>
            </a:pPr>
            <a:r>
              <a:rPr lang="en-US" b="true" sz="2299" spc="110">
                <a:solidFill>
                  <a:srgbClr val="202330"/>
                </a:solidFill>
                <a:latin typeface="Nunito Bold"/>
                <a:ea typeface="Nunito Bold"/>
                <a:cs typeface="Nunito Bold"/>
                <a:sym typeface="Nunito Bold"/>
              </a:rPr>
              <a:t>Dynamic Updates</a:t>
            </a:r>
          </a:p>
          <a:p>
            <a:pPr algn="just">
              <a:lnSpc>
                <a:spcPts val="3219"/>
              </a:lnSpc>
            </a:pPr>
            <a:r>
              <a:rPr lang="en-US" sz="2299" spc="110">
                <a:solidFill>
                  <a:srgbClr val="202330"/>
                </a:solidFill>
                <a:latin typeface="Nunito"/>
                <a:ea typeface="Nunito"/>
                <a:cs typeface="Nunito"/>
                <a:sym typeface="Nunito"/>
              </a:rPr>
              <a:t>All predictions refresh continuously as new data streams in, ensuring health officials always have the latest intelligence for decision-making.</a:t>
            </a:r>
          </a:p>
          <a:p>
            <a:pPr algn="just" marL="0" indent="0" lvl="1">
              <a:lnSpc>
                <a:spcPts val="3219"/>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grpSp>
        <p:nvGrpSpPr>
          <p:cNvPr name="Group 2" id="2"/>
          <p:cNvGrpSpPr/>
          <p:nvPr/>
        </p:nvGrpSpPr>
        <p:grpSpPr>
          <a:xfrm rot="0">
            <a:off x="2839758" y="5521736"/>
            <a:ext cx="4444990" cy="3927971"/>
            <a:chOff x="0" y="0"/>
            <a:chExt cx="1628607" cy="1439176"/>
          </a:xfrm>
        </p:grpSpPr>
        <p:sp>
          <p:nvSpPr>
            <p:cNvPr name="Freeform 3" id="3"/>
            <p:cNvSpPr/>
            <p:nvPr/>
          </p:nvSpPr>
          <p:spPr>
            <a:xfrm flipH="false" flipV="false" rot="0">
              <a:off x="0" y="0"/>
              <a:ext cx="1628607" cy="1439176"/>
            </a:xfrm>
            <a:custGeom>
              <a:avLst/>
              <a:gdLst/>
              <a:ahLst/>
              <a:cxnLst/>
              <a:rect r="r" b="b" t="t" l="l"/>
              <a:pathLst>
                <a:path h="1439176" w="1628607">
                  <a:moveTo>
                    <a:pt x="15675" y="0"/>
                  </a:moveTo>
                  <a:lnTo>
                    <a:pt x="1612932" y="0"/>
                  </a:lnTo>
                  <a:cubicBezTo>
                    <a:pt x="1621589" y="0"/>
                    <a:pt x="1628607" y="7018"/>
                    <a:pt x="1628607" y="15675"/>
                  </a:cubicBezTo>
                  <a:lnTo>
                    <a:pt x="1628607" y="1423500"/>
                  </a:lnTo>
                  <a:cubicBezTo>
                    <a:pt x="1628607" y="1432158"/>
                    <a:pt x="1621589" y="1439176"/>
                    <a:pt x="1612932" y="1439176"/>
                  </a:cubicBezTo>
                  <a:lnTo>
                    <a:pt x="15675" y="1439176"/>
                  </a:lnTo>
                  <a:cubicBezTo>
                    <a:pt x="7018" y="1439176"/>
                    <a:pt x="0" y="1432158"/>
                    <a:pt x="0" y="1423500"/>
                  </a:cubicBezTo>
                  <a:lnTo>
                    <a:pt x="0" y="15675"/>
                  </a:lnTo>
                  <a:cubicBezTo>
                    <a:pt x="0" y="7018"/>
                    <a:pt x="7018" y="0"/>
                    <a:pt x="15675" y="0"/>
                  </a:cubicBezTo>
                  <a:close/>
                </a:path>
              </a:pathLst>
            </a:custGeom>
            <a:solidFill>
              <a:srgbClr val="21C2D1"/>
            </a:solidFill>
            <a:ln cap="sq">
              <a:noFill/>
              <a:prstDash val="solid"/>
              <a:miter/>
            </a:ln>
          </p:spPr>
        </p:sp>
        <p:sp>
          <p:nvSpPr>
            <p:cNvPr name="TextBox 4" id="4"/>
            <p:cNvSpPr txBox="true"/>
            <p:nvPr/>
          </p:nvSpPr>
          <p:spPr>
            <a:xfrm>
              <a:off x="0" y="-47625"/>
              <a:ext cx="1628607" cy="1486801"/>
            </a:xfrm>
            <a:prstGeom prst="rect">
              <a:avLst/>
            </a:prstGeom>
          </p:spPr>
          <p:txBody>
            <a:bodyPr anchor="ctr" rtlCol="false" tIns="0" lIns="0" bIns="0" rIns="0"/>
            <a:lstStyle/>
            <a:p>
              <a:pPr algn="ctr" marL="0" indent="0" lvl="1">
                <a:lnSpc>
                  <a:spcPts val="2729"/>
                </a:lnSpc>
                <a:spcBef>
                  <a:spcPct val="0"/>
                </a:spcBef>
              </a:pPr>
            </a:p>
          </p:txBody>
        </p:sp>
      </p:grpSp>
      <p:grpSp>
        <p:nvGrpSpPr>
          <p:cNvPr name="Group 5" id="5"/>
          <p:cNvGrpSpPr/>
          <p:nvPr/>
        </p:nvGrpSpPr>
        <p:grpSpPr>
          <a:xfrm rot="0">
            <a:off x="7598134" y="5521736"/>
            <a:ext cx="3109843" cy="2018846"/>
            <a:chOff x="0" y="0"/>
            <a:chExt cx="1139421" cy="739688"/>
          </a:xfrm>
        </p:grpSpPr>
        <p:sp>
          <p:nvSpPr>
            <p:cNvPr name="Freeform 6" id="6"/>
            <p:cNvSpPr/>
            <p:nvPr/>
          </p:nvSpPr>
          <p:spPr>
            <a:xfrm flipH="false" flipV="false" rot="0">
              <a:off x="0" y="0"/>
              <a:ext cx="1139421" cy="739688"/>
            </a:xfrm>
            <a:custGeom>
              <a:avLst/>
              <a:gdLst/>
              <a:ahLst/>
              <a:cxnLst/>
              <a:rect r="r" b="b" t="t" l="l"/>
              <a:pathLst>
                <a:path h="739688" w="1139421">
                  <a:moveTo>
                    <a:pt x="32363" y="0"/>
                  </a:moveTo>
                  <a:lnTo>
                    <a:pt x="1107057" y="0"/>
                  </a:lnTo>
                  <a:cubicBezTo>
                    <a:pt x="1124931" y="0"/>
                    <a:pt x="1139421" y="14490"/>
                    <a:pt x="1139421" y="32363"/>
                  </a:cubicBezTo>
                  <a:lnTo>
                    <a:pt x="1139421" y="707325"/>
                  </a:lnTo>
                  <a:cubicBezTo>
                    <a:pt x="1139421" y="725199"/>
                    <a:pt x="1124931" y="739688"/>
                    <a:pt x="1107057" y="739688"/>
                  </a:cubicBezTo>
                  <a:lnTo>
                    <a:pt x="32363" y="739688"/>
                  </a:lnTo>
                  <a:cubicBezTo>
                    <a:pt x="14490" y="739688"/>
                    <a:pt x="0" y="725199"/>
                    <a:pt x="0" y="707325"/>
                  </a:cubicBezTo>
                  <a:lnTo>
                    <a:pt x="0" y="32363"/>
                  </a:lnTo>
                  <a:cubicBezTo>
                    <a:pt x="0" y="14490"/>
                    <a:pt x="14490" y="0"/>
                    <a:pt x="32363" y="0"/>
                  </a:cubicBezTo>
                  <a:close/>
                </a:path>
              </a:pathLst>
            </a:custGeom>
            <a:solidFill>
              <a:srgbClr val="FFAE39"/>
            </a:solidFill>
            <a:ln cap="sq">
              <a:noFill/>
              <a:prstDash val="solid"/>
              <a:miter/>
            </a:ln>
          </p:spPr>
        </p:sp>
        <p:sp>
          <p:nvSpPr>
            <p:cNvPr name="TextBox 7" id="7"/>
            <p:cNvSpPr txBox="true"/>
            <p:nvPr/>
          </p:nvSpPr>
          <p:spPr>
            <a:xfrm>
              <a:off x="0" y="-47625"/>
              <a:ext cx="1139421" cy="787313"/>
            </a:xfrm>
            <a:prstGeom prst="rect">
              <a:avLst/>
            </a:prstGeom>
          </p:spPr>
          <p:txBody>
            <a:bodyPr anchor="ctr" rtlCol="false" tIns="0" lIns="0" bIns="0" rIns="0"/>
            <a:lstStyle/>
            <a:p>
              <a:pPr algn="ctr" marL="0" indent="0" lvl="1">
                <a:lnSpc>
                  <a:spcPts val="2729"/>
                </a:lnSpc>
                <a:spcBef>
                  <a:spcPct val="0"/>
                </a:spcBef>
              </a:pPr>
            </a:p>
          </p:txBody>
        </p:sp>
      </p:grpSp>
      <p:grpSp>
        <p:nvGrpSpPr>
          <p:cNvPr name="Group 8" id="8"/>
          <p:cNvGrpSpPr>
            <a:grpSpLocks noChangeAspect="true"/>
          </p:cNvGrpSpPr>
          <p:nvPr/>
        </p:nvGrpSpPr>
        <p:grpSpPr>
          <a:xfrm rot="0">
            <a:off x="3829912" y="4125928"/>
            <a:ext cx="2464682" cy="2464682"/>
            <a:chOff x="0" y="0"/>
            <a:chExt cx="14840029" cy="14840029"/>
          </a:xfrm>
        </p:grpSpPr>
        <p:sp>
          <p:nvSpPr>
            <p:cNvPr name="Freeform 9" id="9"/>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21C2D1"/>
            </a:solidFill>
          </p:spPr>
        </p:sp>
        <p:sp>
          <p:nvSpPr>
            <p:cNvPr name="Freeform 10" id="10"/>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6EA"/>
            </a:solidFill>
          </p:spPr>
        </p:sp>
        <p:sp>
          <p:nvSpPr>
            <p:cNvPr name="Freeform 11" id="11"/>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2"/>
              <a:stretch>
                <a:fillRect l="-82257" t="-26253" r="-140486" b="-89870"/>
              </a:stretch>
            </a:blipFill>
          </p:spPr>
        </p:sp>
      </p:grpSp>
      <p:sp>
        <p:nvSpPr>
          <p:cNvPr name="Freeform 12" id="12"/>
          <p:cNvSpPr/>
          <p:nvPr/>
        </p:nvSpPr>
        <p:spPr>
          <a:xfrm flipH="false" flipV="false" rot="0">
            <a:off x="15457032" y="8006957"/>
            <a:ext cx="3665183" cy="2885499"/>
          </a:xfrm>
          <a:custGeom>
            <a:avLst/>
            <a:gdLst/>
            <a:ahLst/>
            <a:cxnLst/>
            <a:rect r="r" b="b" t="t" l="l"/>
            <a:pathLst>
              <a:path h="2885499" w="3665183">
                <a:moveTo>
                  <a:pt x="0" y="0"/>
                </a:moveTo>
                <a:lnTo>
                  <a:pt x="3665183" y="0"/>
                </a:lnTo>
                <a:lnTo>
                  <a:pt x="3665183" y="2885499"/>
                </a:lnTo>
                <a:lnTo>
                  <a:pt x="0" y="288549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504600">
            <a:off x="-1005271" y="7138657"/>
            <a:ext cx="3312034" cy="3233750"/>
          </a:xfrm>
          <a:custGeom>
            <a:avLst/>
            <a:gdLst/>
            <a:ahLst/>
            <a:cxnLst/>
            <a:rect r="r" b="b" t="t" l="l"/>
            <a:pathLst>
              <a:path h="3233750" w="3312034">
                <a:moveTo>
                  <a:pt x="0" y="0"/>
                </a:moveTo>
                <a:lnTo>
                  <a:pt x="3312034" y="0"/>
                </a:lnTo>
                <a:lnTo>
                  <a:pt x="3312034" y="3233750"/>
                </a:lnTo>
                <a:lnTo>
                  <a:pt x="0" y="32337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0">
            <a:off x="15175715" y="-1494172"/>
            <a:ext cx="3112285" cy="4114800"/>
          </a:xfrm>
          <a:custGeom>
            <a:avLst/>
            <a:gdLst/>
            <a:ahLst/>
            <a:cxnLst/>
            <a:rect r="r" b="b" t="t" l="l"/>
            <a:pathLst>
              <a:path h="4114800" w="3112285">
                <a:moveTo>
                  <a:pt x="0" y="0"/>
                </a:moveTo>
                <a:lnTo>
                  <a:pt x="3112285" y="0"/>
                </a:lnTo>
                <a:lnTo>
                  <a:pt x="3112285"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false" flipV="false" rot="944149">
            <a:off x="-747257" y="27149"/>
            <a:ext cx="2954247" cy="3501801"/>
          </a:xfrm>
          <a:custGeom>
            <a:avLst/>
            <a:gdLst/>
            <a:ahLst/>
            <a:cxnLst/>
            <a:rect r="r" b="b" t="t" l="l"/>
            <a:pathLst>
              <a:path h="3501801" w="2954247">
                <a:moveTo>
                  <a:pt x="0" y="0"/>
                </a:moveTo>
                <a:lnTo>
                  <a:pt x="2954247" y="0"/>
                </a:lnTo>
                <a:lnTo>
                  <a:pt x="2954247" y="3501801"/>
                </a:lnTo>
                <a:lnTo>
                  <a:pt x="0" y="35018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6" id="16"/>
          <p:cNvSpPr txBox="true"/>
          <p:nvPr/>
        </p:nvSpPr>
        <p:spPr>
          <a:xfrm rot="0">
            <a:off x="2209250" y="1629520"/>
            <a:ext cx="13918710" cy="3724576"/>
          </a:xfrm>
          <a:prstGeom prst="rect">
            <a:avLst/>
          </a:prstGeom>
        </p:spPr>
        <p:txBody>
          <a:bodyPr anchor="t" rtlCol="false" tIns="0" lIns="0" bIns="0" rIns="0">
            <a:spAutoFit/>
          </a:bodyPr>
          <a:lstStyle/>
          <a:p>
            <a:pPr algn="ctr">
              <a:lnSpc>
                <a:spcPts val="9958"/>
              </a:lnSpc>
            </a:pPr>
            <a:r>
              <a:rPr lang="en-US" sz="7113" b="true">
                <a:solidFill>
                  <a:srgbClr val="610C9E"/>
                </a:solidFill>
                <a:latin typeface="Luktao Bold"/>
                <a:ea typeface="Luktao Bold"/>
                <a:cs typeface="Luktao Bold"/>
                <a:sym typeface="Luktao Bold"/>
              </a:rPr>
              <a:t>Transformative Impact Across Stakeholders</a:t>
            </a:r>
          </a:p>
          <a:p>
            <a:pPr algn="ctr" marL="0" indent="0" lvl="0">
              <a:lnSpc>
                <a:spcPts val="9958"/>
              </a:lnSpc>
              <a:spcBef>
                <a:spcPct val="0"/>
              </a:spcBef>
            </a:pPr>
          </a:p>
        </p:txBody>
      </p:sp>
      <p:sp>
        <p:nvSpPr>
          <p:cNvPr name="TextBox 17" id="17"/>
          <p:cNvSpPr txBox="true"/>
          <p:nvPr/>
        </p:nvSpPr>
        <p:spPr>
          <a:xfrm rot="0">
            <a:off x="7771317" y="6655791"/>
            <a:ext cx="2794575" cy="405108"/>
          </a:xfrm>
          <a:prstGeom prst="rect">
            <a:avLst/>
          </a:prstGeom>
        </p:spPr>
        <p:txBody>
          <a:bodyPr anchor="t" rtlCol="false" tIns="0" lIns="0" bIns="0" rIns="0">
            <a:spAutoFit/>
          </a:bodyPr>
          <a:lstStyle/>
          <a:p>
            <a:pPr algn="ctr" marL="0" indent="0" lvl="1">
              <a:lnSpc>
                <a:spcPts val="3396"/>
              </a:lnSpc>
              <a:spcBef>
                <a:spcPct val="0"/>
              </a:spcBef>
            </a:pPr>
            <a:r>
              <a:rPr lang="en-US" b="true" sz="2425" spc="77">
                <a:solidFill>
                  <a:srgbClr val="FFF6EA"/>
                </a:solidFill>
                <a:latin typeface="Nunito Bold"/>
                <a:ea typeface="Nunito Bold"/>
                <a:cs typeface="Nunito Bold"/>
                <a:sym typeface="Nunito Bold"/>
              </a:rPr>
              <a:t>Daniel Gallego</a:t>
            </a:r>
          </a:p>
        </p:txBody>
      </p:sp>
      <p:sp>
        <p:nvSpPr>
          <p:cNvPr name="TextBox 18" id="18"/>
          <p:cNvSpPr txBox="true"/>
          <p:nvPr/>
        </p:nvSpPr>
        <p:spPr>
          <a:xfrm rot="0">
            <a:off x="11176435" y="6655791"/>
            <a:ext cx="2794575" cy="405108"/>
          </a:xfrm>
          <a:prstGeom prst="rect">
            <a:avLst/>
          </a:prstGeom>
        </p:spPr>
        <p:txBody>
          <a:bodyPr anchor="t" rtlCol="false" tIns="0" lIns="0" bIns="0" rIns="0">
            <a:spAutoFit/>
          </a:bodyPr>
          <a:lstStyle/>
          <a:p>
            <a:pPr algn="ctr" marL="0" indent="0" lvl="1">
              <a:lnSpc>
                <a:spcPts val="3396"/>
              </a:lnSpc>
              <a:spcBef>
                <a:spcPct val="0"/>
              </a:spcBef>
            </a:pPr>
            <a:r>
              <a:rPr lang="en-US" b="true" sz="2425" spc="77">
                <a:solidFill>
                  <a:srgbClr val="FFF6EA"/>
                </a:solidFill>
                <a:latin typeface="Nunito Bold"/>
                <a:ea typeface="Nunito Bold"/>
                <a:cs typeface="Nunito Bold"/>
                <a:sym typeface="Nunito Bold"/>
              </a:rPr>
              <a:t>Juliana Silva</a:t>
            </a:r>
          </a:p>
        </p:txBody>
      </p:sp>
      <p:sp>
        <p:nvSpPr>
          <p:cNvPr name="TextBox 19" id="19"/>
          <p:cNvSpPr txBox="true"/>
          <p:nvPr/>
        </p:nvSpPr>
        <p:spPr>
          <a:xfrm rot="0">
            <a:off x="3064064" y="6812168"/>
            <a:ext cx="3996377" cy="2741012"/>
          </a:xfrm>
          <a:prstGeom prst="rect">
            <a:avLst/>
          </a:prstGeom>
        </p:spPr>
        <p:txBody>
          <a:bodyPr anchor="t" rtlCol="false" tIns="0" lIns="0" bIns="0" rIns="0">
            <a:spAutoFit/>
          </a:bodyPr>
          <a:lstStyle/>
          <a:p>
            <a:pPr algn="ctr">
              <a:lnSpc>
                <a:spcPts val="2745"/>
              </a:lnSpc>
            </a:pPr>
            <a:r>
              <a:rPr lang="en-US" b="true" sz="1961" spc="62">
                <a:solidFill>
                  <a:srgbClr val="FFF6EA"/>
                </a:solidFill>
                <a:latin typeface="Nunito Bold"/>
                <a:ea typeface="Nunito Bold"/>
                <a:cs typeface="Nunito Bold"/>
                <a:sym typeface="Nunito Bold"/>
              </a:rPr>
              <a:t>Hospital Administrators</a:t>
            </a:r>
          </a:p>
          <a:p>
            <a:pPr algn="ctr">
              <a:lnSpc>
                <a:spcPts val="2745"/>
              </a:lnSpc>
            </a:pPr>
            <a:r>
              <a:rPr lang="en-US" sz="1961" spc="62">
                <a:solidFill>
                  <a:srgbClr val="FFF6EA"/>
                </a:solidFill>
                <a:latin typeface="Nunito"/>
                <a:ea typeface="Nunito"/>
                <a:cs typeface="Nunito"/>
                <a:sym typeface="Nunito"/>
              </a:rPr>
              <a:t>Proactive inventory management and bed allocation prevent shortages. Early warnings enable staff scheduling and supply chain coordination before crises emerge.</a:t>
            </a:r>
          </a:p>
          <a:p>
            <a:pPr algn="ctr" marL="0" indent="0" lvl="1">
              <a:lnSpc>
                <a:spcPts val="2745"/>
              </a:lnSpc>
              <a:spcBef>
                <a:spcPct val="0"/>
              </a:spcBef>
            </a:pPr>
          </a:p>
        </p:txBody>
      </p:sp>
      <p:sp>
        <p:nvSpPr>
          <p:cNvPr name="TextBox 20" id="20"/>
          <p:cNvSpPr txBox="true"/>
          <p:nvPr/>
        </p:nvSpPr>
        <p:spPr>
          <a:xfrm rot="0">
            <a:off x="7771317" y="7022799"/>
            <a:ext cx="2794575" cy="339068"/>
          </a:xfrm>
          <a:prstGeom prst="rect">
            <a:avLst/>
          </a:prstGeom>
        </p:spPr>
        <p:txBody>
          <a:bodyPr anchor="t" rtlCol="false" tIns="0" lIns="0" bIns="0" rIns="0">
            <a:spAutoFit/>
          </a:bodyPr>
          <a:lstStyle/>
          <a:p>
            <a:pPr algn="ctr" marL="0" indent="0" lvl="1">
              <a:lnSpc>
                <a:spcPts val="2836"/>
              </a:lnSpc>
              <a:spcBef>
                <a:spcPct val="0"/>
              </a:spcBef>
            </a:pPr>
            <a:r>
              <a:rPr lang="en-US" sz="2025" spc="64">
                <a:solidFill>
                  <a:srgbClr val="FFF6EA"/>
                </a:solidFill>
                <a:latin typeface="Nunito"/>
                <a:ea typeface="Nunito"/>
                <a:cs typeface="Nunito"/>
                <a:sym typeface="Nunito"/>
              </a:rPr>
              <a:t>Surgeon</a:t>
            </a:r>
          </a:p>
        </p:txBody>
      </p:sp>
      <p:sp>
        <p:nvSpPr>
          <p:cNvPr name="TextBox 21" id="21"/>
          <p:cNvSpPr txBox="true"/>
          <p:nvPr/>
        </p:nvSpPr>
        <p:spPr>
          <a:xfrm rot="0">
            <a:off x="11176435" y="7022799"/>
            <a:ext cx="2794575" cy="339068"/>
          </a:xfrm>
          <a:prstGeom prst="rect">
            <a:avLst/>
          </a:prstGeom>
        </p:spPr>
        <p:txBody>
          <a:bodyPr anchor="t" rtlCol="false" tIns="0" lIns="0" bIns="0" rIns="0">
            <a:spAutoFit/>
          </a:bodyPr>
          <a:lstStyle/>
          <a:p>
            <a:pPr algn="ctr" marL="0" indent="0" lvl="1">
              <a:lnSpc>
                <a:spcPts val="2836"/>
              </a:lnSpc>
              <a:spcBef>
                <a:spcPct val="0"/>
              </a:spcBef>
            </a:pPr>
            <a:r>
              <a:rPr lang="en-US" sz="2025" spc="64">
                <a:solidFill>
                  <a:srgbClr val="FFF6EA"/>
                </a:solidFill>
                <a:latin typeface="Nunito"/>
                <a:ea typeface="Nunito"/>
                <a:cs typeface="Nunito"/>
                <a:sym typeface="Nunito"/>
              </a:rPr>
              <a:t>Nutritionist</a:t>
            </a:r>
          </a:p>
        </p:txBody>
      </p:sp>
      <p:sp>
        <p:nvSpPr>
          <p:cNvPr name="TextBox 22" id="22"/>
          <p:cNvSpPr txBox="true"/>
          <p:nvPr/>
        </p:nvSpPr>
        <p:spPr>
          <a:xfrm rot="0">
            <a:off x="14423727" y="8166689"/>
            <a:ext cx="1055614" cy="2725767"/>
          </a:xfrm>
          <a:prstGeom prst="rect">
            <a:avLst/>
          </a:prstGeom>
        </p:spPr>
        <p:txBody>
          <a:bodyPr anchor="t" rtlCol="false" tIns="0" lIns="0" bIns="0" rIns="0">
            <a:spAutoFit/>
          </a:bodyPr>
          <a:lstStyle/>
          <a:p>
            <a:pPr algn="l" marL="0" indent="0" lvl="1">
              <a:lnSpc>
                <a:spcPts val="22205"/>
              </a:lnSpc>
              <a:spcBef>
                <a:spcPct val="0"/>
              </a:spcBef>
            </a:pPr>
            <a:r>
              <a:rPr lang="en-US" b="true" sz="15861" spc="761" strike="noStrike" u="none">
                <a:solidFill>
                  <a:srgbClr val="9D34E8"/>
                </a:solidFill>
                <a:latin typeface="Luktao Ultra-Bold"/>
                <a:ea typeface="Luktao Ultra-Bold"/>
                <a:cs typeface="Luktao Ultra-Bold"/>
                <a:sym typeface="Luktao Ultra-Bold"/>
              </a:rPr>
              <a:t>+</a:t>
            </a:r>
          </a:p>
        </p:txBody>
      </p:sp>
      <p:sp>
        <p:nvSpPr>
          <p:cNvPr name="TextBox 23" id="23"/>
          <p:cNvSpPr txBox="true"/>
          <p:nvPr/>
        </p:nvSpPr>
        <p:spPr>
          <a:xfrm rot="0">
            <a:off x="17110642" y="4635561"/>
            <a:ext cx="1681851" cy="4010315"/>
          </a:xfrm>
          <a:prstGeom prst="rect">
            <a:avLst/>
          </a:prstGeom>
        </p:spPr>
        <p:txBody>
          <a:bodyPr anchor="t" rtlCol="false" tIns="0" lIns="0" bIns="0" rIns="0">
            <a:spAutoFit/>
          </a:bodyPr>
          <a:lstStyle/>
          <a:p>
            <a:pPr algn="l" marL="0" indent="0" lvl="1">
              <a:lnSpc>
                <a:spcPts val="32894"/>
              </a:lnSpc>
              <a:spcBef>
                <a:spcPct val="0"/>
              </a:spcBef>
            </a:pPr>
            <a:r>
              <a:rPr lang="en-US" b="true" sz="23496" spc="1127" strike="noStrike" u="none">
                <a:solidFill>
                  <a:srgbClr val="9D34E8"/>
                </a:solidFill>
                <a:latin typeface="Luktao Ultra-Bold"/>
                <a:ea typeface="Luktao Ultra-Bold"/>
                <a:cs typeface="Luktao Ultra-Bold"/>
                <a:sym typeface="Luktao Ultra-Bold"/>
              </a:rPr>
              <a:t>+</a:t>
            </a:r>
          </a:p>
        </p:txBody>
      </p:sp>
      <p:sp>
        <p:nvSpPr>
          <p:cNvPr name="TextBox 24" id="24"/>
          <p:cNvSpPr txBox="true"/>
          <p:nvPr/>
        </p:nvSpPr>
        <p:spPr>
          <a:xfrm rot="0">
            <a:off x="14951534" y="58125"/>
            <a:ext cx="735601" cy="1752878"/>
          </a:xfrm>
          <a:prstGeom prst="rect">
            <a:avLst/>
          </a:prstGeom>
        </p:spPr>
        <p:txBody>
          <a:bodyPr anchor="t" rtlCol="false" tIns="0" lIns="0" bIns="0" rIns="0">
            <a:spAutoFit/>
          </a:bodyPr>
          <a:lstStyle/>
          <a:p>
            <a:pPr algn="l" marL="0" indent="0" lvl="1">
              <a:lnSpc>
                <a:spcPts val="14387"/>
              </a:lnSpc>
              <a:spcBef>
                <a:spcPct val="0"/>
              </a:spcBef>
            </a:pPr>
            <a:r>
              <a:rPr lang="en-US" b="true" sz="10276" spc="493" strike="noStrike" u="none">
                <a:solidFill>
                  <a:srgbClr val="9D34E8"/>
                </a:solidFill>
                <a:latin typeface="Luktao Ultra-Bold"/>
                <a:ea typeface="Luktao Ultra-Bold"/>
                <a:cs typeface="Luktao Ultra-Bold"/>
                <a:sym typeface="Luktao Ultra-Bold"/>
              </a:rPr>
              <a:t>+</a:t>
            </a:r>
          </a:p>
        </p:txBody>
      </p:sp>
      <p:sp>
        <p:nvSpPr>
          <p:cNvPr name="TextBox 25" id="25"/>
          <p:cNvSpPr txBox="true"/>
          <p:nvPr/>
        </p:nvSpPr>
        <p:spPr>
          <a:xfrm rot="0">
            <a:off x="71659" y="4392163"/>
            <a:ext cx="1316413" cy="3148419"/>
          </a:xfrm>
          <a:prstGeom prst="rect">
            <a:avLst/>
          </a:prstGeom>
        </p:spPr>
        <p:txBody>
          <a:bodyPr anchor="t" rtlCol="false" tIns="0" lIns="0" bIns="0" rIns="0">
            <a:spAutoFit/>
          </a:bodyPr>
          <a:lstStyle/>
          <a:p>
            <a:pPr algn="l" marL="0" indent="0" lvl="1">
              <a:lnSpc>
                <a:spcPts val="25747"/>
              </a:lnSpc>
              <a:spcBef>
                <a:spcPct val="0"/>
              </a:spcBef>
            </a:pPr>
            <a:r>
              <a:rPr lang="en-US" b="true" sz="18390" spc="882" strike="noStrike" u="none">
                <a:solidFill>
                  <a:srgbClr val="9D34E8"/>
                </a:solidFill>
                <a:latin typeface="Luktao Ultra-Bold"/>
                <a:ea typeface="Luktao Ultra-Bold"/>
                <a:cs typeface="Luktao Ultra-Bold"/>
                <a:sym typeface="Luktao Ultra-Bold"/>
              </a:rPr>
              <a:t>+</a:t>
            </a:r>
          </a:p>
        </p:txBody>
      </p:sp>
      <p:sp>
        <p:nvSpPr>
          <p:cNvPr name="TextBox 26" id="26"/>
          <p:cNvSpPr txBox="true"/>
          <p:nvPr/>
        </p:nvSpPr>
        <p:spPr>
          <a:xfrm rot="0">
            <a:off x="2839758" y="8128589"/>
            <a:ext cx="1316413" cy="3148419"/>
          </a:xfrm>
          <a:prstGeom prst="rect">
            <a:avLst/>
          </a:prstGeom>
        </p:spPr>
        <p:txBody>
          <a:bodyPr anchor="t" rtlCol="false" tIns="0" lIns="0" bIns="0" rIns="0">
            <a:spAutoFit/>
          </a:bodyPr>
          <a:lstStyle/>
          <a:p>
            <a:pPr algn="l" marL="0" indent="0" lvl="1">
              <a:lnSpc>
                <a:spcPts val="25747"/>
              </a:lnSpc>
              <a:spcBef>
                <a:spcPct val="0"/>
              </a:spcBef>
            </a:pPr>
            <a:r>
              <a:rPr lang="en-US" b="true" sz="18390" spc="882" strike="noStrike" u="none">
                <a:solidFill>
                  <a:srgbClr val="9D34E8"/>
                </a:solidFill>
                <a:latin typeface="Luktao Ultra-Bold"/>
                <a:ea typeface="Luktao Ultra-Bold"/>
                <a:cs typeface="Luktao Ultra-Bold"/>
                <a:sym typeface="Luktao Ultra-Bold"/>
              </a:rPr>
              <a:t>+</a:t>
            </a:r>
          </a:p>
        </p:txBody>
      </p:sp>
      <p:grpSp>
        <p:nvGrpSpPr>
          <p:cNvPr name="Group 27" id="27"/>
          <p:cNvGrpSpPr/>
          <p:nvPr/>
        </p:nvGrpSpPr>
        <p:grpSpPr>
          <a:xfrm rot="0">
            <a:off x="7584107" y="5521736"/>
            <a:ext cx="4444990" cy="3927971"/>
            <a:chOff x="0" y="0"/>
            <a:chExt cx="1628607" cy="1439176"/>
          </a:xfrm>
        </p:grpSpPr>
        <p:sp>
          <p:nvSpPr>
            <p:cNvPr name="Freeform 28" id="28"/>
            <p:cNvSpPr/>
            <p:nvPr/>
          </p:nvSpPr>
          <p:spPr>
            <a:xfrm flipH="false" flipV="false" rot="0">
              <a:off x="0" y="0"/>
              <a:ext cx="1628607" cy="1439176"/>
            </a:xfrm>
            <a:custGeom>
              <a:avLst/>
              <a:gdLst/>
              <a:ahLst/>
              <a:cxnLst/>
              <a:rect r="r" b="b" t="t" l="l"/>
              <a:pathLst>
                <a:path h="1439176" w="1628607">
                  <a:moveTo>
                    <a:pt x="15675" y="0"/>
                  </a:moveTo>
                  <a:lnTo>
                    <a:pt x="1612932" y="0"/>
                  </a:lnTo>
                  <a:cubicBezTo>
                    <a:pt x="1621589" y="0"/>
                    <a:pt x="1628607" y="7018"/>
                    <a:pt x="1628607" y="15675"/>
                  </a:cubicBezTo>
                  <a:lnTo>
                    <a:pt x="1628607" y="1423500"/>
                  </a:lnTo>
                  <a:cubicBezTo>
                    <a:pt x="1628607" y="1432158"/>
                    <a:pt x="1621589" y="1439176"/>
                    <a:pt x="1612932" y="1439176"/>
                  </a:cubicBezTo>
                  <a:lnTo>
                    <a:pt x="15675" y="1439176"/>
                  </a:lnTo>
                  <a:cubicBezTo>
                    <a:pt x="7018" y="1439176"/>
                    <a:pt x="0" y="1432158"/>
                    <a:pt x="0" y="1423500"/>
                  </a:cubicBezTo>
                  <a:lnTo>
                    <a:pt x="0" y="15675"/>
                  </a:lnTo>
                  <a:cubicBezTo>
                    <a:pt x="0" y="7018"/>
                    <a:pt x="7018" y="0"/>
                    <a:pt x="15675" y="0"/>
                  </a:cubicBezTo>
                  <a:close/>
                </a:path>
              </a:pathLst>
            </a:custGeom>
            <a:solidFill>
              <a:srgbClr val="FFC35A"/>
            </a:solidFill>
            <a:ln cap="sq">
              <a:noFill/>
              <a:prstDash val="solid"/>
              <a:miter/>
            </a:ln>
          </p:spPr>
        </p:sp>
        <p:sp>
          <p:nvSpPr>
            <p:cNvPr name="TextBox 29" id="29"/>
            <p:cNvSpPr txBox="true"/>
            <p:nvPr/>
          </p:nvSpPr>
          <p:spPr>
            <a:xfrm>
              <a:off x="0" y="-47625"/>
              <a:ext cx="1628607" cy="1486801"/>
            </a:xfrm>
            <a:prstGeom prst="rect">
              <a:avLst/>
            </a:prstGeom>
          </p:spPr>
          <p:txBody>
            <a:bodyPr anchor="ctr" rtlCol="false" tIns="0" lIns="0" bIns="0" rIns="0"/>
            <a:lstStyle/>
            <a:p>
              <a:pPr algn="ctr" marL="0" indent="0" lvl="1">
                <a:lnSpc>
                  <a:spcPts val="2729"/>
                </a:lnSpc>
                <a:spcBef>
                  <a:spcPct val="0"/>
                </a:spcBef>
              </a:pPr>
            </a:p>
          </p:txBody>
        </p:sp>
      </p:grpSp>
      <p:grpSp>
        <p:nvGrpSpPr>
          <p:cNvPr name="Group 30" id="30"/>
          <p:cNvGrpSpPr>
            <a:grpSpLocks noChangeAspect="true"/>
          </p:cNvGrpSpPr>
          <p:nvPr/>
        </p:nvGrpSpPr>
        <p:grpSpPr>
          <a:xfrm rot="0">
            <a:off x="8574261" y="4125928"/>
            <a:ext cx="2464682" cy="2464682"/>
            <a:chOff x="0" y="0"/>
            <a:chExt cx="14840029" cy="14840029"/>
          </a:xfrm>
        </p:grpSpPr>
        <p:sp>
          <p:nvSpPr>
            <p:cNvPr name="Freeform 31" id="31"/>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FFAE39"/>
            </a:solidFill>
          </p:spPr>
        </p:sp>
        <p:sp>
          <p:nvSpPr>
            <p:cNvPr name="Freeform 32" id="32"/>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6EA"/>
            </a:solidFill>
          </p:spPr>
        </p:sp>
        <p:sp>
          <p:nvSpPr>
            <p:cNvPr name="Freeform 33" id="33"/>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11"/>
              <a:stretch>
                <a:fillRect l="-72103" t="0" r="-72766" b="-63976"/>
              </a:stretch>
            </a:blipFill>
          </p:spPr>
        </p:sp>
      </p:grpSp>
      <p:grpSp>
        <p:nvGrpSpPr>
          <p:cNvPr name="Group 34" id="34"/>
          <p:cNvGrpSpPr/>
          <p:nvPr/>
        </p:nvGrpSpPr>
        <p:grpSpPr>
          <a:xfrm rot="0">
            <a:off x="12201232" y="5521736"/>
            <a:ext cx="4444990" cy="3927971"/>
            <a:chOff x="0" y="0"/>
            <a:chExt cx="1628607" cy="1439176"/>
          </a:xfrm>
        </p:grpSpPr>
        <p:sp>
          <p:nvSpPr>
            <p:cNvPr name="Freeform 35" id="35"/>
            <p:cNvSpPr/>
            <p:nvPr/>
          </p:nvSpPr>
          <p:spPr>
            <a:xfrm flipH="false" flipV="false" rot="0">
              <a:off x="0" y="0"/>
              <a:ext cx="1628607" cy="1439176"/>
            </a:xfrm>
            <a:custGeom>
              <a:avLst/>
              <a:gdLst/>
              <a:ahLst/>
              <a:cxnLst/>
              <a:rect r="r" b="b" t="t" l="l"/>
              <a:pathLst>
                <a:path h="1439176" w="1628607">
                  <a:moveTo>
                    <a:pt x="15675" y="0"/>
                  </a:moveTo>
                  <a:lnTo>
                    <a:pt x="1612932" y="0"/>
                  </a:lnTo>
                  <a:cubicBezTo>
                    <a:pt x="1621589" y="0"/>
                    <a:pt x="1628607" y="7018"/>
                    <a:pt x="1628607" y="15675"/>
                  </a:cubicBezTo>
                  <a:lnTo>
                    <a:pt x="1628607" y="1423500"/>
                  </a:lnTo>
                  <a:cubicBezTo>
                    <a:pt x="1628607" y="1432158"/>
                    <a:pt x="1621589" y="1439176"/>
                    <a:pt x="1612932" y="1439176"/>
                  </a:cubicBezTo>
                  <a:lnTo>
                    <a:pt x="15675" y="1439176"/>
                  </a:lnTo>
                  <a:cubicBezTo>
                    <a:pt x="7018" y="1439176"/>
                    <a:pt x="0" y="1432158"/>
                    <a:pt x="0" y="1423500"/>
                  </a:cubicBezTo>
                  <a:lnTo>
                    <a:pt x="0" y="15675"/>
                  </a:lnTo>
                  <a:cubicBezTo>
                    <a:pt x="0" y="7018"/>
                    <a:pt x="7018" y="0"/>
                    <a:pt x="15675" y="0"/>
                  </a:cubicBezTo>
                  <a:close/>
                </a:path>
              </a:pathLst>
            </a:custGeom>
            <a:solidFill>
              <a:srgbClr val="610C9E"/>
            </a:solidFill>
            <a:ln cap="sq">
              <a:noFill/>
              <a:prstDash val="solid"/>
              <a:miter/>
            </a:ln>
          </p:spPr>
        </p:sp>
        <p:sp>
          <p:nvSpPr>
            <p:cNvPr name="TextBox 36" id="36"/>
            <p:cNvSpPr txBox="true"/>
            <p:nvPr/>
          </p:nvSpPr>
          <p:spPr>
            <a:xfrm>
              <a:off x="0" y="-47625"/>
              <a:ext cx="1628607" cy="1486801"/>
            </a:xfrm>
            <a:prstGeom prst="rect">
              <a:avLst/>
            </a:prstGeom>
          </p:spPr>
          <p:txBody>
            <a:bodyPr anchor="ctr" rtlCol="false" tIns="0" lIns="0" bIns="0" rIns="0"/>
            <a:lstStyle/>
            <a:p>
              <a:pPr algn="ctr" marL="0" indent="0" lvl="1">
                <a:lnSpc>
                  <a:spcPts val="2729"/>
                </a:lnSpc>
                <a:spcBef>
                  <a:spcPct val="0"/>
                </a:spcBef>
              </a:pPr>
            </a:p>
          </p:txBody>
        </p:sp>
      </p:grpSp>
      <p:grpSp>
        <p:nvGrpSpPr>
          <p:cNvPr name="Group 37" id="37"/>
          <p:cNvGrpSpPr>
            <a:grpSpLocks noChangeAspect="true"/>
          </p:cNvGrpSpPr>
          <p:nvPr/>
        </p:nvGrpSpPr>
        <p:grpSpPr>
          <a:xfrm rot="0">
            <a:off x="13191386" y="4125928"/>
            <a:ext cx="2464682" cy="2464682"/>
            <a:chOff x="0" y="0"/>
            <a:chExt cx="14840029" cy="14840029"/>
          </a:xfrm>
        </p:grpSpPr>
        <p:sp>
          <p:nvSpPr>
            <p:cNvPr name="Freeform 38" id="38"/>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9B33E5"/>
            </a:solidFill>
          </p:spPr>
        </p:sp>
        <p:sp>
          <p:nvSpPr>
            <p:cNvPr name="Freeform 39" id="39"/>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6EA"/>
            </a:solidFill>
          </p:spPr>
        </p:sp>
        <p:sp>
          <p:nvSpPr>
            <p:cNvPr name="Freeform 40" id="40"/>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12"/>
              <a:stretch>
                <a:fillRect l="-97930" t="-14851" r="-85040" b="-74639"/>
              </a:stretch>
            </a:blipFill>
          </p:spPr>
        </p:sp>
      </p:grpSp>
      <p:sp>
        <p:nvSpPr>
          <p:cNvPr name="TextBox 41" id="41"/>
          <p:cNvSpPr txBox="true"/>
          <p:nvPr/>
        </p:nvSpPr>
        <p:spPr>
          <a:xfrm rot="0">
            <a:off x="7771317" y="6821693"/>
            <a:ext cx="3996377" cy="2881347"/>
          </a:xfrm>
          <a:prstGeom prst="rect">
            <a:avLst/>
          </a:prstGeom>
        </p:spPr>
        <p:txBody>
          <a:bodyPr anchor="t" rtlCol="false" tIns="0" lIns="0" bIns="0" rIns="0">
            <a:spAutoFit/>
          </a:bodyPr>
          <a:lstStyle/>
          <a:p>
            <a:pPr algn="ctr">
              <a:lnSpc>
                <a:spcPts val="2885"/>
              </a:lnSpc>
            </a:pPr>
            <a:r>
              <a:rPr lang="en-US" b="true" sz="2061" spc="65">
                <a:solidFill>
                  <a:srgbClr val="FFF6EA"/>
                </a:solidFill>
                <a:latin typeface="Nunito Bold"/>
                <a:ea typeface="Nunito Bold"/>
                <a:cs typeface="Nunito Bold"/>
                <a:sym typeface="Nunito Bold"/>
              </a:rPr>
              <a:t>Health Authorities</a:t>
            </a:r>
          </a:p>
          <a:p>
            <a:pPr algn="ctr">
              <a:lnSpc>
                <a:spcPts val="2885"/>
              </a:lnSpc>
            </a:pPr>
            <a:r>
              <a:rPr lang="en-US" sz="2061" spc="65">
                <a:solidFill>
                  <a:srgbClr val="FFF6EA"/>
                </a:solidFill>
                <a:latin typeface="Nunito"/>
                <a:ea typeface="Nunito"/>
                <a:cs typeface="Nunito"/>
                <a:sym typeface="Nunito"/>
              </a:rPr>
              <a:t>Geographic hotspot forecasting supports targeted interventions, resource deployment, and public health messaging in high-risk areas before outbreaks escalate.</a:t>
            </a:r>
          </a:p>
          <a:p>
            <a:pPr algn="ctr" marL="0" indent="0" lvl="1">
              <a:lnSpc>
                <a:spcPts val="2885"/>
              </a:lnSpc>
              <a:spcBef>
                <a:spcPct val="0"/>
              </a:spcBef>
            </a:pPr>
          </a:p>
        </p:txBody>
      </p:sp>
      <p:sp>
        <p:nvSpPr>
          <p:cNvPr name="TextBox 42" id="42"/>
          <p:cNvSpPr txBox="true"/>
          <p:nvPr/>
        </p:nvSpPr>
        <p:spPr>
          <a:xfrm rot="0">
            <a:off x="12552972" y="6875742"/>
            <a:ext cx="3996377" cy="2881347"/>
          </a:xfrm>
          <a:prstGeom prst="rect">
            <a:avLst/>
          </a:prstGeom>
        </p:spPr>
        <p:txBody>
          <a:bodyPr anchor="t" rtlCol="false" tIns="0" lIns="0" bIns="0" rIns="0">
            <a:spAutoFit/>
          </a:bodyPr>
          <a:lstStyle/>
          <a:p>
            <a:pPr algn="ctr">
              <a:lnSpc>
                <a:spcPts val="2885"/>
              </a:lnSpc>
            </a:pPr>
            <a:r>
              <a:rPr lang="en-US" b="true" sz="2061" spc="65">
                <a:solidFill>
                  <a:srgbClr val="FFF6EA"/>
                </a:solidFill>
                <a:latin typeface="Nunito Bold"/>
                <a:ea typeface="Nunito Bold"/>
                <a:cs typeface="Nunito Bold"/>
                <a:sym typeface="Nunito Bold"/>
              </a:rPr>
              <a:t>Community Members</a:t>
            </a:r>
          </a:p>
          <a:p>
            <a:pPr algn="ctr">
              <a:lnSpc>
                <a:spcPts val="2885"/>
              </a:lnSpc>
            </a:pPr>
            <a:r>
              <a:rPr lang="en-US" sz="2061" spc="65">
                <a:solidFill>
                  <a:srgbClr val="FFF6EA"/>
                </a:solidFill>
                <a:latin typeface="Nunito"/>
                <a:ea typeface="Nunito"/>
                <a:cs typeface="Nunito"/>
                <a:sym typeface="Nunito"/>
              </a:rPr>
              <a:t>Early public alerts raise awareness, enabling preventive measures and timely healthcare seeking. Transparency builds trust in outbreak response efforts.</a:t>
            </a:r>
          </a:p>
          <a:p>
            <a:pPr algn="ctr" marL="0" indent="0" lvl="1">
              <a:lnSpc>
                <a:spcPts val="2885"/>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610C9E"/>
        </a:solidFill>
      </p:bgPr>
    </p:bg>
    <p:spTree>
      <p:nvGrpSpPr>
        <p:cNvPr id="1" name=""/>
        <p:cNvGrpSpPr/>
        <p:nvPr/>
      </p:nvGrpSpPr>
      <p:grpSpPr>
        <a:xfrm>
          <a:off x="0" y="0"/>
          <a:ext cx="0" cy="0"/>
          <a:chOff x="0" y="0"/>
          <a:chExt cx="0" cy="0"/>
        </a:xfrm>
      </p:grpSpPr>
      <p:grpSp>
        <p:nvGrpSpPr>
          <p:cNvPr name="Group 2" id="2"/>
          <p:cNvGrpSpPr/>
          <p:nvPr/>
        </p:nvGrpSpPr>
        <p:grpSpPr>
          <a:xfrm rot="0">
            <a:off x="10097266" y="1255185"/>
            <a:ext cx="7162034" cy="8233213"/>
            <a:chOff x="0" y="0"/>
            <a:chExt cx="2369557" cy="2723956"/>
          </a:xfrm>
        </p:grpSpPr>
        <p:sp>
          <p:nvSpPr>
            <p:cNvPr name="Freeform 3" id="3"/>
            <p:cNvSpPr/>
            <p:nvPr/>
          </p:nvSpPr>
          <p:spPr>
            <a:xfrm flipH="false" flipV="false" rot="0">
              <a:off x="0" y="0"/>
              <a:ext cx="2369557" cy="2723956"/>
            </a:xfrm>
            <a:custGeom>
              <a:avLst/>
              <a:gdLst/>
              <a:ahLst/>
              <a:cxnLst/>
              <a:rect r="r" b="b" t="t" l="l"/>
              <a:pathLst>
                <a:path h="2723956" w="2369557">
                  <a:moveTo>
                    <a:pt x="15134" y="0"/>
                  </a:moveTo>
                  <a:lnTo>
                    <a:pt x="2354423" y="0"/>
                  </a:lnTo>
                  <a:cubicBezTo>
                    <a:pt x="2362781" y="0"/>
                    <a:pt x="2369557" y="6776"/>
                    <a:pt x="2369557" y="15134"/>
                  </a:cubicBezTo>
                  <a:lnTo>
                    <a:pt x="2369557" y="2708822"/>
                  </a:lnTo>
                  <a:cubicBezTo>
                    <a:pt x="2369557" y="2717180"/>
                    <a:pt x="2362781" y="2723956"/>
                    <a:pt x="2354423" y="2723956"/>
                  </a:cubicBezTo>
                  <a:lnTo>
                    <a:pt x="15134" y="2723956"/>
                  </a:lnTo>
                  <a:cubicBezTo>
                    <a:pt x="11120" y="2723956"/>
                    <a:pt x="7271" y="2722362"/>
                    <a:pt x="4433" y="2719524"/>
                  </a:cubicBezTo>
                  <a:cubicBezTo>
                    <a:pt x="1594" y="2716685"/>
                    <a:pt x="0" y="2712836"/>
                    <a:pt x="0" y="2708822"/>
                  </a:cubicBezTo>
                  <a:lnTo>
                    <a:pt x="0" y="15134"/>
                  </a:lnTo>
                  <a:cubicBezTo>
                    <a:pt x="0" y="6776"/>
                    <a:pt x="6776" y="0"/>
                    <a:pt x="15134" y="0"/>
                  </a:cubicBezTo>
                  <a:close/>
                </a:path>
              </a:pathLst>
            </a:custGeom>
            <a:solidFill>
              <a:srgbClr val="FFF6EA"/>
            </a:solidFill>
          </p:spPr>
        </p:sp>
        <p:sp>
          <p:nvSpPr>
            <p:cNvPr name="TextBox 4" id="4"/>
            <p:cNvSpPr txBox="true"/>
            <p:nvPr/>
          </p:nvSpPr>
          <p:spPr>
            <a:xfrm>
              <a:off x="0" y="-47625"/>
              <a:ext cx="2369557" cy="2771581"/>
            </a:xfrm>
            <a:prstGeom prst="rect">
              <a:avLst/>
            </a:prstGeom>
          </p:spPr>
          <p:txBody>
            <a:bodyPr anchor="ctr" rtlCol="false" tIns="50800" lIns="50800" bIns="50800" rIns="50800"/>
            <a:lstStyle/>
            <a:p>
              <a:pPr algn="ctr">
                <a:lnSpc>
                  <a:spcPts val="3149"/>
                </a:lnSpc>
              </a:pPr>
            </a:p>
          </p:txBody>
        </p:sp>
      </p:grpSp>
      <p:pic>
        <p:nvPicPr>
          <p:cNvPr name="Picture 5" id="5"/>
          <p:cNvPicPr>
            <a:picLocks noChangeAspect="true"/>
          </p:cNvPicPr>
          <p:nvPr/>
        </p:nvPicPr>
        <p:blipFill>
          <a:blip r:embed="rId2"/>
          <a:stretch>
            <a:fillRect/>
          </a:stretch>
        </p:blipFill>
        <p:spPr>
          <a:xfrm rot="0">
            <a:off x="9960250" y="868984"/>
            <a:ext cx="7660171" cy="8948737"/>
          </a:xfrm>
          <a:prstGeom prst="rect">
            <a:avLst/>
          </a:prstGeom>
        </p:spPr>
      </p:pic>
      <p:sp>
        <p:nvSpPr>
          <p:cNvPr name="Freeform 6" id="6"/>
          <p:cNvSpPr/>
          <p:nvPr/>
        </p:nvSpPr>
        <p:spPr>
          <a:xfrm flipH="false" flipV="false" rot="-1170116">
            <a:off x="16087776" y="8774812"/>
            <a:ext cx="2244569" cy="1942572"/>
          </a:xfrm>
          <a:custGeom>
            <a:avLst/>
            <a:gdLst/>
            <a:ahLst/>
            <a:cxnLst/>
            <a:rect r="r" b="b" t="t" l="l"/>
            <a:pathLst>
              <a:path h="1942572" w="2244569">
                <a:moveTo>
                  <a:pt x="0" y="0"/>
                </a:moveTo>
                <a:lnTo>
                  <a:pt x="2244569" y="0"/>
                </a:lnTo>
                <a:lnTo>
                  <a:pt x="2244569" y="1942573"/>
                </a:lnTo>
                <a:lnTo>
                  <a:pt x="0" y="19425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554741">
            <a:off x="17425701" y="6084942"/>
            <a:ext cx="1587821" cy="2199753"/>
          </a:xfrm>
          <a:custGeom>
            <a:avLst/>
            <a:gdLst/>
            <a:ahLst/>
            <a:cxnLst/>
            <a:rect r="r" b="b" t="t" l="l"/>
            <a:pathLst>
              <a:path h="2199753" w="1587821">
                <a:moveTo>
                  <a:pt x="0" y="0"/>
                </a:moveTo>
                <a:lnTo>
                  <a:pt x="1587822" y="0"/>
                </a:lnTo>
                <a:lnTo>
                  <a:pt x="1587822" y="2199753"/>
                </a:lnTo>
                <a:lnTo>
                  <a:pt x="0" y="21997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859113" y="210199"/>
            <a:ext cx="1718226" cy="1637001"/>
          </a:xfrm>
          <a:custGeom>
            <a:avLst/>
            <a:gdLst/>
            <a:ahLst/>
            <a:cxnLst/>
            <a:rect r="r" b="b" t="t" l="l"/>
            <a:pathLst>
              <a:path h="1637001" w="1718226">
                <a:moveTo>
                  <a:pt x="0" y="0"/>
                </a:moveTo>
                <a:lnTo>
                  <a:pt x="1718226" y="0"/>
                </a:lnTo>
                <a:lnTo>
                  <a:pt x="1718226" y="1637002"/>
                </a:lnTo>
                <a:lnTo>
                  <a:pt x="0" y="163700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0" y="-1842879"/>
            <a:ext cx="2507130" cy="3314715"/>
          </a:xfrm>
          <a:custGeom>
            <a:avLst/>
            <a:gdLst/>
            <a:ahLst/>
            <a:cxnLst/>
            <a:rect r="r" b="b" t="t" l="l"/>
            <a:pathLst>
              <a:path h="3314715" w="2507130">
                <a:moveTo>
                  <a:pt x="0" y="0"/>
                </a:moveTo>
                <a:lnTo>
                  <a:pt x="2507130" y="0"/>
                </a:lnTo>
                <a:lnTo>
                  <a:pt x="2507130" y="3314716"/>
                </a:lnTo>
                <a:lnTo>
                  <a:pt x="0" y="331471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1527403" y="1338487"/>
            <a:ext cx="7616597" cy="3618835"/>
          </a:xfrm>
          <a:prstGeom prst="rect">
            <a:avLst/>
          </a:prstGeom>
        </p:spPr>
        <p:txBody>
          <a:bodyPr anchor="t" rtlCol="false" tIns="0" lIns="0" bIns="0" rIns="0">
            <a:spAutoFit/>
          </a:bodyPr>
          <a:lstStyle/>
          <a:p>
            <a:pPr algn="l">
              <a:lnSpc>
                <a:spcPts val="9660"/>
              </a:lnSpc>
            </a:pPr>
            <a:r>
              <a:rPr lang="en-US" sz="6900" b="true">
                <a:solidFill>
                  <a:srgbClr val="FFF6EA"/>
                </a:solidFill>
                <a:latin typeface="Luktao Bold"/>
                <a:ea typeface="Luktao Bold"/>
                <a:cs typeface="Luktao Bold"/>
                <a:sym typeface="Luktao Bold"/>
              </a:rPr>
              <a:t>Challenges &amp; Future Roadmap</a:t>
            </a:r>
          </a:p>
          <a:p>
            <a:pPr algn="l">
              <a:lnSpc>
                <a:spcPts val="9660"/>
              </a:lnSpc>
            </a:pPr>
          </a:p>
        </p:txBody>
      </p:sp>
      <p:sp>
        <p:nvSpPr>
          <p:cNvPr name="TextBox 11" id="11"/>
          <p:cNvSpPr txBox="true"/>
          <p:nvPr/>
        </p:nvSpPr>
        <p:spPr>
          <a:xfrm rot="0">
            <a:off x="17394500" y="4033060"/>
            <a:ext cx="893500" cy="2288758"/>
          </a:xfrm>
          <a:prstGeom prst="rect">
            <a:avLst/>
          </a:prstGeom>
        </p:spPr>
        <p:txBody>
          <a:bodyPr anchor="t" rtlCol="false" tIns="0" lIns="0" bIns="0" rIns="0">
            <a:spAutoFit/>
          </a:bodyPr>
          <a:lstStyle/>
          <a:p>
            <a:pPr algn="l" marL="0" indent="0" lvl="1">
              <a:lnSpc>
                <a:spcPts val="18795"/>
              </a:lnSpc>
              <a:spcBef>
                <a:spcPct val="0"/>
              </a:spcBef>
            </a:pPr>
            <a:r>
              <a:rPr lang="en-US" b="true" sz="13425" spc="644" strike="noStrike" u="none">
                <a:solidFill>
                  <a:srgbClr val="FFF6EA"/>
                </a:solidFill>
                <a:latin typeface="Luktao Ultra-Bold"/>
                <a:ea typeface="Luktao Ultra-Bold"/>
                <a:cs typeface="Luktao Ultra-Bold"/>
                <a:sym typeface="Luktao Ultra-Bold"/>
              </a:rPr>
              <a:t>+</a:t>
            </a:r>
          </a:p>
        </p:txBody>
      </p:sp>
      <p:sp>
        <p:nvSpPr>
          <p:cNvPr name="TextBox 12" id="12"/>
          <p:cNvSpPr txBox="true"/>
          <p:nvPr/>
        </p:nvSpPr>
        <p:spPr>
          <a:xfrm rot="0">
            <a:off x="14934409" y="8577921"/>
            <a:ext cx="893500" cy="2288758"/>
          </a:xfrm>
          <a:prstGeom prst="rect">
            <a:avLst/>
          </a:prstGeom>
        </p:spPr>
        <p:txBody>
          <a:bodyPr anchor="t" rtlCol="false" tIns="0" lIns="0" bIns="0" rIns="0">
            <a:spAutoFit/>
          </a:bodyPr>
          <a:lstStyle/>
          <a:p>
            <a:pPr algn="l" marL="0" indent="0" lvl="1">
              <a:lnSpc>
                <a:spcPts val="18795"/>
              </a:lnSpc>
              <a:spcBef>
                <a:spcPct val="0"/>
              </a:spcBef>
            </a:pPr>
            <a:r>
              <a:rPr lang="en-US" b="true" sz="13425" spc="644" strike="noStrike" u="none">
                <a:solidFill>
                  <a:srgbClr val="FFF6EA"/>
                </a:solidFill>
                <a:latin typeface="Luktao Ultra-Bold"/>
                <a:ea typeface="Luktao Ultra-Bold"/>
                <a:cs typeface="Luktao Ultra-Bold"/>
                <a:sym typeface="Luktao Ultra-Bold"/>
              </a:rPr>
              <a:t>+</a:t>
            </a:r>
          </a:p>
        </p:txBody>
      </p:sp>
      <p:sp>
        <p:nvSpPr>
          <p:cNvPr name="TextBox 13" id="13"/>
          <p:cNvSpPr txBox="true"/>
          <p:nvPr/>
        </p:nvSpPr>
        <p:spPr>
          <a:xfrm rot="0">
            <a:off x="148894" y="1367062"/>
            <a:ext cx="893500" cy="2288758"/>
          </a:xfrm>
          <a:prstGeom prst="rect">
            <a:avLst/>
          </a:prstGeom>
        </p:spPr>
        <p:txBody>
          <a:bodyPr anchor="t" rtlCol="false" tIns="0" lIns="0" bIns="0" rIns="0">
            <a:spAutoFit/>
          </a:bodyPr>
          <a:lstStyle/>
          <a:p>
            <a:pPr algn="l" marL="0" indent="0" lvl="1">
              <a:lnSpc>
                <a:spcPts val="18795"/>
              </a:lnSpc>
              <a:spcBef>
                <a:spcPct val="0"/>
              </a:spcBef>
            </a:pPr>
            <a:r>
              <a:rPr lang="en-US" b="true" sz="13425" spc="644" strike="noStrike" u="none">
                <a:solidFill>
                  <a:srgbClr val="FFF6EA"/>
                </a:solidFill>
                <a:latin typeface="Luktao Ultra-Bold"/>
                <a:ea typeface="Luktao Ultra-Bold"/>
                <a:cs typeface="Luktao Ultra-Bold"/>
                <a:sym typeface="Luktao Ultra-Bold"/>
              </a:rPr>
              <a:t>+</a:t>
            </a:r>
          </a:p>
        </p:txBody>
      </p:sp>
      <p:sp>
        <p:nvSpPr>
          <p:cNvPr name="TextBox 14" id="14"/>
          <p:cNvSpPr txBox="true"/>
          <p:nvPr/>
        </p:nvSpPr>
        <p:spPr>
          <a:xfrm rot="0">
            <a:off x="2300667" y="-674047"/>
            <a:ext cx="893500" cy="2288758"/>
          </a:xfrm>
          <a:prstGeom prst="rect">
            <a:avLst/>
          </a:prstGeom>
        </p:spPr>
        <p:txBody>
          <a:bodyPr anchor="t" rtlCol="false" tIns="0" lIns="0" bIns="0" rIns="0">
            <a:spAutoFit/>
          </a:bodyPr>
          <a:lstStyle/>
          <a:p>
            <a:pPr algn="l" marL="0" indent="0" lvl="1">
              <a:lnSpc>
                <a:spcPts val="18795"/>
              </a:lnSpc>
              <a:spcBef>
                <a:spcPct val="0"/>
              </a:spcBef>
            </a:pPr>
            <a:r>
              <a:rPr lang="en-US" b="true" sz="13425" spc="644" strike="noStrike" u="none">
                <a:solidFill>
                  <a:srgbClr val="FFF6EA"/>
                </a:solidFill>
                <a:latin typeface="Luktao Ultra-Bold"/>
                <a:ea typeface="Luktao Ultra-Bold"/>
                <a:cs typeface="Luktao Ultra-Bold"/>
                <a:sym typeface="Luktao Ultra-Bold"/>
              </a:rPr>
              <a:t>+</a:t>
            </a:r>
          </a:p>
        </p:txBody>
      </p:sp>
      <p:sp>
        <p:nvSpPr>
          <p:cNvPr name="TextBox 15" id="15"/>
          <p:cNvSpPr txBox="true"/>
          <p:nvPr/>
        </p:nvSpPr>
        <p:spPr>
          <a:xfrm rot="0">
            <a:off x="291896" y="4197002"/>
            <a:ext cx="9281495" cy="3202139"/>
          </a:xfrm>
          <a:prstGeom prst="rect">
            <a:avLst/>
          </a:prstGeom>
        </p:spPr>
        <p:txBody>
          <a:bodyPr anchor="t" rtlCol="false" tIns="0" lIns="0" bIns="0" rIns="0">
            <a:spAutoFit/>
          </a:bodyPr>
          <a:lstStyle/>
          <a:p>
            <a:pPr algn="ctr">
              <a:lnSpc>
                <a:spcPts val="3509"/>
              </a:lnSpc>
            </a:pPr>
            <a:r>
              <a:rPr lang="en-US" sz="2506" b="true">
                <a:solidFill>
                  <a:srgbClr val="FFF6EA"/>
                </a:solidFill>
                <a:latin typeface="Canva Sans Bold"/>
                <a:ea typeface="Canva Sans Bold"/>
                <a:cs typeface="Canva Sans Bold"/>
                <a:sym typeface="Canva Sans Bold"/>
              </a:rPr>
              <a:t>Current Limitations</a:t>
            </a:r>
          </a:p>
          <a:p>
            <a:pPr algn="l" marL="454804" indent="-227402" lvl="1">
              <a:lnSpc>
                <a:spcPts val="2949"/>
              </a:lnSpc>
              <a:buFont typeface="Arial"/>
              <a:buChar char="•"/>
            </a:pPr>
            <a:r>
              <a:rPr lang="en-US" b="true" sz="2106">
                <a:solidFill>
                  <a:srgbClr val="FFF6EA"/>
                </a:solidFill>
                <a:latin typeface="Canva Sans Bold"/>
                <a:ea typeface="Canva Sans Bold"/>
                <a:cs typeface="Canva Sans Bold"/>
                <a:sym typeface="Canva Sans Bold"/>
              </a:rPr>
              <a:t>Data Quality Gaps</a:t>
            </a:r>
          </a:p>
          <a:p>
            <a:pPr algn="l">
              <a:lnSpc>
                <a:spcPts val="2949"/>
              </a:lnSpc>
            </a:pPr>
            <a:r>
              <a:rPr lang="en-US" sz="2106">
                <a:solidFill>
                  <a:srgbClr val="FFF6EA"/>
                </a:solidFill>
                <a:latin typeface="Canva Sans"/>
                <a:ea typeface="Canva Sans"/>
                <a:cs typeface="Canva Sans"/>
                <a:sym typeface="Canva Sans"/>
              </a:rPr>
              <a:t>Inconsistent reporting standards and incomplete datasets from some facilities limit prediction accuracy in certain regions.</a:t>
            </a:r>
          </a:p>
          <a:p>
            <a:pPr algn="l" marL="454804" indent="-227402" lvl="1">
              <a:lnSpc>
                <a:spcPts val="2949"/>
              </a:lnSpc>
              <a:buFont typeface="Arial"/>
              <a:buChar char="•"/>
            </a:pPr>
            <a:r>
              <a:rPr lang="en-US" b="true" sz="2106">
                <a:solidFill>
                  <a:srgbClr val="FFF6EA"/>
                </a:solidFill>
                <a:latin typeface="Canva Sans Bold"/>
                <a:ea typeface="Canva Sans Bold"/>
                <a:cs typeface="Canva Sans Bold"/>
                <a:sym typeface="Canva Sans Bold"/>
              </a:rPr>
              <a:t>Model Accuracy Variance</a:t>
            </a:r>
          </a:p>
          <a:p>
            <a:pPr algn="l">
              <a:lnSpc>
                <a:spcPts val="2949"/>
              </a:lnSpc>
            </a:pPr>
            <a:r>
              <a:rPr lang="en-US" sz="2106">
                <a:solidFill>
                  <a:srgbClr val="FFF6EA"/>
                </a:solidFill>
                <a:latin typeface="Canva Sans"/>
                <a:ea typeface="Canva Sans"/>
                <a:cs typeface="Canva Sans"/>
                <a:sym typeface="Canva Sans"/>
              </a:rPr>
              <a:t>Prediction confidence varies with data volume and outbreak novelty, requiring ongoing model refinement and validation.</a:t>
            </a:r>
          </a:p>
          <a:p>
            <a:pPr algn="l">
              <a:lnSpc>
                <a:spcPts val="2669"/>
              </a:lnSpc>
            </a:pPr>
          </a:p>
          <a:p>
            <a:pPr algn="l">
              <a:lnSpc>
                <a:spcPts val="1549"/>
              </a:lnSpc>
            </a:pPr>
          </a:p>
        </p:txBody>
      </p:sp>
      <p:sp>
        <p:nvSpPr>
          <p:cNvPr name="TextBox 16" id="16"/>
          <p:cNvSpPr txBox="true"/>
          <p:nvPr/>
        </p:nvSpPr>
        <p:spPr>
          <a:xfrm rot="0">
            <a:off x="291896" y="7371835"/>
            <a:ext cx="9281495" cy="1770768"/>
          </a:xfrm>
          <a:prstGeom prst="rect">
            <a:avLst/>
          </a:prstGeom>
        </p:spPr>
        <p:txBody>
          <a:bodyPr anchor="t" rtlCol="false" tIns="0" lIns="0" bIns="0" rIns="0">
            <a:spAutoFit/>
          </a:bodyPr>
          <a:lstStyle/>
          <a:p>
            <a:pPr algn="ctr">
              <a:lnSpc>
                <a:spcPts val="3374"/>
              </a:lnSpc>
            </a:pPr>
            <a:r>
              <a:rPr lang="en-US" sz="2410" b="true">
                <a:solidFill>
                  <a:srgbClr val="FFF6EA"/>
                </a:solidFill>
                <a:latin typeface="Canva Sans Bold"/>
                <a:ea typeface="Canva Sans Bold"/>
                <a:cs typeface="Canva Sans Bold"/>
                <a:sym typeface="Canva Sans Bold"/>
              </a:rPr>
              <a:t>Future Enhancements</a:t>
            </a:r>
          </a:p>
          <a:p>
            <a:pPr algn="l" marL="455430" indent="-227715" lvl="1">
              <a:lnSpc>
                <a:spcPts val="2953"/>
              </a:lnSpc>
              <a:buFont typeface="Arial"/>
              <a:buChar char="•"/>
            </a:pPr>
            <a:r>
              <a:rPr lang="en-US" b="true" sz="2109">
                <a:solidFill>
                  <a:srgbClr val="FFF6EA"/>
                </a:solidFill>
                <a:latin typeface="Canva Sans Bold"/>
                <a:ea typeface="Canva Sans Bold"/>
                <a:cs typeface="Canva Sans Bold"/>
                <a:sym typeface="Canva Sans Bold"/>
              </a:rPr>
              <a:t>Mobile Application</a:t>
            </a:r>
          </a:p>
          <a:p>
            <a:pPr algn="l">
              <a:lnSpc>
                <a:spcPts val="2953"/>
              </a:lnSpc>
            </a:pPr>
            <a:r>
              <a:rPr lang="en-US" sz="2109">
                <a:solidFill>
                  <a:srgbClr val="FFF6EA"/>
                </a:solidFill>
                <a:latin typeface="Canva Sans"/>
                <a:ea typeface="Canva Sans"/>
                <a:cs typeface="Canva Sans"/>
                <a:sym typeface="Canva Sans"/>
              </a:rPr>
              <a:t>Native iOS and Android apps for field health workers with offline capability and real-time sync.</a:t>
            </a:r>
          </a:p>
          <a:p>
            <a:pPr algn="l">
              <a:lnSpc>
                <a:spcPts val="1973"/>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4555500">
            <a:off x="14967718" y="2613265"/>
            <a:ext cx="3471395" cy="4114800"/>
          </a:xfrm>
          <a:custGeom>
            <a:avLst/>
            <a:gdLst/>
            <a:ahLst/>
            <a:cxnLst/>
            <a:rect r="r" b="b" t="t" l="l"/>
            <a:pathLst>
              <a:path h="4114800" w="3471395">
                <a:moveTo>
                  <a:pt x="0" y="0"/>
                </a:moveTo>
                <a:lnTo>
                  <a:pt x="3471395" y="0"/>
                </a:lnTo>
                <a:lnTo>
                  <a:pt x="347139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4161932">
            <a:off x="-496422" y="3851750"/>
            <a:ext cx="3471395" cy="4114800"/>
          </a:xfrm>
          <a:custGeom>
            <a:avLst/>
            <a:gdLst/>
            <a:ahLst/>
            <a:cxnLst/>
            <a:rect r="r" b="b" t="t" l="l"/>
            <a:pathLst>
              <a:path h="4114800" w="3471395">
                <a:moveTo>
                  <a:pt x="3471395" y="0"/>
                </a:moveTo>
                <a:lnTo>
                  <a:pt x="0" y="0"/>
                </a:lnTo>
                <a:lnTo>
                  <a:pt x="0" y="4114800"/>
                </a:lnTo>
                <a:lnTo>
                  <a:pt x="3471395" y="4114800"/>
                </a:lnTo>
                <a:lnTo>
                  <a:pt x="347139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2109755">
            <a:off x="12242079" y="-701798"/>
            <a:ext cx="1990835" cy="2499907"/>
          </a:xfrm>
          <a:custGeom>
            <a:avLst/>
            <a:gdLst/>
            <a:ahLst/>
            <a:cxnLst/>
            <a:rect r="r" b="b" t="t" l="l"/>
            <a:pathLst>
              <a:path h="2499907" w="1990835">
                <a:moveTo>
                  <a:pt x="0" y="0"/>
                </a:moveTo>
                <a:lnTo>
                  <a:pt x="1990835" y="0"/>
                </a:lnTo>
                <a:lnTo>
                  <a:pt x="1990835" y="2499907"/>
                </a:lnTo>
                <a:lnTo>
                  <a:pt x="0" y="24999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271449">
            <a:off x="14907680" y="-983974"/>
            <a:ext cx="3879425" cy="3357466"/>
          </a:xfrm>
          <a:custGeom>
            <a:avLst/>
            <a:gdLst/>
            <a:ahLst/>
            <a:cxnLst/>
            <a:rect r="r" b="b" t="t" l="l"/>
            <a:pathLst>
              <a:path h="3357466" w="3879425">
                <a:moveTo>
                  <a:pt x="0" y="0"/>
                </a:moveTo>
                <a:lnTo>
                  <a:pt x="3879425" y="0"/>
                </a:lnTo>
                <a:lnTo>
                  <a:pt x="3879425" y="3357466"/>
                </a:lnTo>
                <a:lnTo>
                  <a:pt x="0" y="33574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2039606">
            <a:off x="-323536" y="8191036"/>
            <a:ext cx="3879425" cy="3357466"/>
          </a:xfrm>
          <a:custGeom>
            <a:avLst/>
            <a:gdLst/>
            <a:ahLst/>
            <a:cxnLst/>
            <a:rect r="r" b="b" t="t" l="l"/>
            <a:pathLst>
              <a:path h="3357466" w="3879425">
                <a:moveTo>
                  <a:pt x="0" y="0"/>
                </a:moveTo>
                <a:lnTo>
                  <a:pt x="3879425" y="0"/>
                </a:lnTo>
                <a:lnTo>
                  <a:pt x="3879425" y="3357466"/>
                </a:lnTo>
                <a:lnTo>
                  <a:pt x="0" y="33574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4222942" y="2332551"/>
            <a:ext cx="9842117" cy="4913410"/>
            <a:chOff x="0" y="0"/>
            <a:chExt cx="2592162" cy="1294067"/>
          </a:xfrm>
        </p:grpSpPr>
        <p:sp>
          <p:nvSpPr>
            <p:cNvPr name="Freeform 8" id="8"/>
            <p:cNvSpPr/>
            <p:nvPr/>
          </p:nvSpPr>
          <p:spPr>
            <a:xfrm flipH="false" flipV="false" rot="0">
              <a:off x="0" y="0"/>
              <a:ext cx="2592163" cy="1294067"/>
            </a:xfrm>
            <a:custGeom>
              <a:avLst/>
              <a:gdLst/>
              <a:ahLst/>
              <a:cxnLst/>
              <a:rect r="r" b="b" t="t" l="l"/>
              <a:pathLst>
                <a:path h="1294067" w="2592163">
                  <a:moveTo>
                    <a:pt x="18092" y="0"/>
                  </a:moveTo>
                  <a:lnTo>
                    <a:pt x="2574070" y="0"/>
                  </a:lnTo>
                  <a:cubicBezTo>
                    <a:pt x="2578869" y="0"/>
                    <a:pt x="2583471" y="1906"/>
                    <a:pt x="2586863" y="5299"/>
                  </a:cubicBezTo>
                  <a:cubicBezTo>
                    <a:pt x="2590256" y="8692"/>
                    <a:pt x="2592163" y="13294"/>
                    <a:pt x="2592163" y="18092"/>
                  </a:cubicBezTo>
                  <a:lnTo>
                    <a:pt x="2592163" y="1275975"/>
                  </a:lnTo>
                  <a:cubicBezTo>
                    <a:pt x="2592163" y="1280773"/>
                    <a:pt x="2590256" y="1285375"/>
                    <a:pt x="2586863" y="1288768"/>
                  </a:cubicBezTo>
                  <a:cubicBezTo>
                    <a:pt x="2583471" y="1292161"/>
                    <a:pt x="2578869" y="1294067"/>
                    <a:pt x="2574070" y="1294067"/>
                  </a:cubicBezTo>
                  <a:lnTo>
                    <a:pt x="18092" y="1294067"/>
                  </a:lnTo>
                  <a:cubicBezTo>
                    <a:pt x="13294" y="1294067"/>
                    <a:pt x="8692" y="1292161"/>
                    <a:pt x="5299" y="1288768"/>
                  </a:cubicBezTo>
                  <a:cubicBezTo>
                    <a:pt x="1906" y="1285375"/>
                    <a:pt x="0" y="1280773"/>
                    <a:pt x="0" y="1275975"/>
                  </a:cubicBezTo>
                  <a:lnTo>
                    <a:pt x="0" y="18092"/>
                  </a:lnTo>
                  <a:cubicBezTo>
                    <a:pt x="0" y="13294"/>
                    <a:pt x="1906" y="8692"/>
                    <a:pt x="5299" y="5299"/>
                  </a:cubicBezTo>
                  <a:cubicBezTo>
                    <a:pt x="8692" y="1906"/>
                    <a:pt x="13294" y="0"/>
                    <a:pt x="18092" y="0"/>
                  </a:cubicBezTo>
                  <a:close/>
                </a:path>
              </a:pathLst>
            </a:custGeom>
            <a:solidFill>
              <a:srgbClr val="610C9E"/>
            </a:solidFill>
          </p:spPr>
        </p:sp>
        <p:sp>
          <p:nvSpPr>
            <p:cNvPr name="TextBox 9" id="9"/>
            <p:cNvSpPr txBox="true"/>
            <p:nvPr/>
          </p:nvSpPr>
          <p:spPr>
            <a:xfrm>
              <a:off x="0" y="-28575"/>
              <a:ext cx="2592162" cy="1322642"/>
            </a:xfrm>
            <a:prstGeom prst="rect">
              <a:avLst/>
            </a:prstGeom>
          </p:spPr>
          <p:txBody>
            <a:bodyPr anchor="ctr" rtlCol="false" tIns="50800" lIns="50800" bIns="50800" rIns="50800"/>
            <a:lstStyle/>
            <a:p>
              <a:pPr algn="ctr">
                <a:lnSpc>
                  <a:spcPts val="2442"/>
                </a:lnSpc>
              </a:pPr>
            </a:p>
          </p:txBody>
        </p:sp>
      </p:grpSp>
      <p:sp>
        <p:nvSpPr>
          <p:cNvPr name="Freeform 10" id="10"/>
          <p:cNvSpPr/>
          <p:nvPr/>
        </p:nvSpPr>
        <p:spPr>
          <a:xfrm flipH="false" flipV="false" rot="0">
            <a:off x="12886371" y="6990666"/>
            <a:ext cx="5640862" cy="4440897"/>
          </a:xfrm>
          <a:custGeom>
            <a:avLst/>
            <a:gdLst/>
            <a:ahLst/>
            <a:cxnLst/>
            <a:rect r="r" b="b" t="t" l="l"/>
            <a:pathLst>
              <a:path h="4440897" w="5640862">
                <a:moveTo>
                  <a:pt x="0" y="0"/>
                </a:moveTo>
                <a:lnTo>
                  <a:pt x="5640862" y="0"/>
                </a:lnTo>
                <a:lnTo>
                  <a:pt x="5640862" y="4440896"/>
                </a:lnTo>
                <a:lnTo>
                  <a:pt x="0" y="444089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true" flipV="false" rot="1806166">
            <a:off x="-1204255" y="-1453308"/>
            <a:ext cx="5640862" cy="4440897"/>
          </a:xfrm>
          <a:custGeom>
            <a:avLst/>
            <a:gdLst/>
            <a:ahLst/>
            <a:cxnLst/>
            <a:rect r="r" b="b" t="t" l="l"/>
            <a:pathLst>
              <a:path h="4440897" w="5640862">
                <a:moveTo>
                  <a:pt x="5640862" y="0"/>
                </a:moveTo>
                <a:lnTo>
                  <a:pt x="0" y="0"/>
                </a:lnTo>
                <a:lnTo>
                  <a:pt x="0" y="4440897"/>
                </a:lnTo>
                <a:lnTo>
                  <a:pt x="5640862" y="4440897"/>
                </a:lnTo>
                <a:lnTo>
                  <a:pt x="5640862"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1368960">
            <a:off x="8894790" y="7162610"/>
            <a:ext cx="3239341" cy="4533430"/>
          </a:xfrm>
          <a:custGeom>
            <a:avLst/>
            <a:gdLst/>
            <a:ahLst/>
            <a:cxnLst/>
            <a:rect r="r" b="b" t="t" l="l"/>
            <a:pathLst>
              <a:path h="4533430" w="3239341">
                <a:moveTo>
                  <a:pt x="0" y="0"/>
                </a:moveTo>
                <a:lnTo>
                  <a:pt x="3239341" y="0"/>
                </a:lnTo>
                <a:lnTo>
                  <a:pt x="3239341" y="4533429"/>
                </a:lnTo>
                <a:lnTo>
                  <a:pt x="0" y="45334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1368960">
            <a:off x="4588535" y="-2794458"/>
            <a:ext cx="3239341" cy="4533430"/>
          </a:xfrm>
          <a:custGeom>
            <a:avLst/>
            <a:gdLst/>
            <a:ahLst/>
            <a:cxnLst/>
            <a:rect r="r" b="b" t="t" l="l"/>
            <a:pathLst>
              <a:path h="4533430" w="3239341">
                <a:moveTo>
                  <a:pt x="0" y="0"/>
                </a:moveTo>
                <a:lnTo>
                  <a:pt x="3239341" y="0"/>
                </a:lnTo>
                <a:lnTo>
                  <a:pt x="3239341" y="4533429"/>
                </a:lnTo>
                <a:lnTo>
                  <a:pt x="0" y="45334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7951012" y="-2057400"/>
            <a:ext cx="3112285" cy="4114800"/>
          </a:xfrm>
          <a:custGeom>
            <a:avLst/>
            <a:gdLst/>
            <a:ahLst/>
            <a:cxnLst/>
            <a:rect r="r" b="b" t="t" l="l"/>
            <a:pathLst>
              <a:path h="4114800" w="3112285">
                <a:moveTo>
                  <a:pt x="0" y="0"/>
                </a:moveTo>
                <a:lnTo>
                  <a:pt x="3112285" y="0"/>
                </a:lnTo>
                <a:lnTo>
                  <a:pt x="3112285"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4838727" y="8704078"/>
            <a:ext cx="3112285" cy="4114800"/>
          </a:xfrm>
          <a:custGeom>
            <a:avLst/>
            <a:gdLst/>
            <a:ahLst/>
            <a:cxnLst/>
            <a:rect r="r" b="b" t="t" l="l"/>
            <a:pathLst>
              <a:path h="4114800" w="3112285">
                <a:moveTo>
                  <a:pt x="0" y="0"/>
                </a:moveTo>
                <a:lnTo>
                  <a:pt x="3112285" y="0"/>
                </a:lnTo>
                <a:lnTo>
                  <a:pt x="3112285"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6" id="16"/>
          <p:cNvSpPr txBox="true"/>
          <p:nvPr/>
        </p:nvSpPr>
        <p:spPr>
          <a:xfrm rot="0">
            <a:off x="13844429" y="452816"/>
            <a:ext cx="1178274" cy="2816919"/>
          </a:xfrm>
          <a:prstGeom prst="rect">
            <a:avLst/>
          </a:prstGeom>
        </p:spPr>
        <p:txBody>
          <a:bodyPr anchor="t" rtlCol="false" tIns="0" lIns="0" bIns="0" rIns="0">
            <a:spAutoFit/>
          </a:bodyPr>
          <a:lstStyle/>
          <a:p>
            <a:pPr algn="l" marL="0" indent="0" lvl="1">
              <a:lnSpc>
                <a:spcPts val="23045"/>
              </a:lnSpc>
              <a:spcBef>
                <a:spcPct val="0"/>
              </a:spcBef>
            </a:pPr>
            <a:r>
              <a:rPr lang="en-US" b="true" sz="16460" spc="790" strike="noStrike" u="none">
                <a:solidFill>
                  <a:srgbClr val="9D34E8"/>
                </a:solidFill>
                <a:latin typeface="Luktao Ultra-Bold"/>
                <a:ea typeface="Luktao Ultra-Bold"/>
                <a:cs typeface="Luktao Ultra-Bold"/>
                <a:sym typeface="Luktao Ultra-Bold"/>
              </a:rPr>
              <a:t>+</a:t>
            </a:r>
          </a:p>
        </p:txBody>
      </p:sp>
      <p:sp>
        <p:nvSpPr>
          <p:cNvPr name="TextBox 17" id="17"/>
          <p:cNvSpPr txBox="true"/>
          <p:nvPr/>
        </p:nvSpPr>
        <p:spPr>
          <a:xfrm rot="0">
            <a:off x="740784" y="1600200"/>
            <a:ext cx="1750784" cy="4175773"/>
          </a:xfrm>
          <a:prstGeom prst="rect">
            <a:avLst/>
          </a:prstGeom>
        </p:spPr>
        <p:txBody>
          <a:bodyPr anchor="t" rtlCol="false" tIns="0" lIns="0" bIns="0" rIns="0">
            <a:spAutoFit/>
          </a:bodyPr>
          <a:lstStyle/>
          <a:p>
            <a:pPr algn="l" marL="0" indent="0" lvl="1">
              <a:lnSpc>
                <a:spcPts val="34242"/>
              </a:lnSpc>
              <a:spcBef>
                <a:spcPct val="0"/>
              </a:spcBef>
            </a:pPr>
            <a:r>
              <a:rPr lang="en-US" b="true" sz="24459" spc="1174" strike="noStrike" u="none">
                <a:solidFill>
                  <a:srgbClr val="9D34E8"/>
                </a:solidFill>
                <a:latin typeface="Luktao Ultra-Bold"/>
                <a:ea typeface="Luktao Ultra-Bold"/>
                <a:cs typeface="Luktao Ultra-Bold"/>
                <a:sym typeface="Luktao Ultra-Bold"/>
              </a:rPr>
              <a:t>+</a:t>
            </a:r>
          </a:p>
        </p:txBody>
      </p:sp>
      <p:sp>
        <p:nvSpPr>
          <p:cNvPr name="TextBox 18" id="18"/>
          <p:cNvSpPr txBox="true"/>
          <p:nvPr/>
        </p:nvSpPr>
        <p:spPr>
          <a:xfrm rot="0">
            <a:off x="12819050" y="6765560"/>
            <a:ext cx="1466625" cy="3496036"/>
          </a:xfrm>
          <a:prstGeom prst="rect">
            <a:avLst/>
          </a:prstGeom>
        </p:spPr>
        <p:txBody>
          <a:bodyPr anchor="t" rtlCol="false" tIns="0" lIns="0" bIns="0" rIns="0">
            <a:spAutoFit/>
          </a:bodyPr>
          <a:lstStyle/>
          <a:p>
            <a:pPr algn="l" marL="0" indent="0" lvl="1">
              <a:lnSpc>
                <a:spcPts val="28685"/>
              </a:lnSpc>
              <a:spcBef>
                <a:spcPct val="0"/>
              </a:spcBef>
            </a:pPr>
            <a:r>
              <a:rPr lang="en-US" b="true" sz="20489" spc="983" strike="noStrike" u="none">
                <a:solidFill>
                  <a:srgbClr val="9D34E8"/>
                </a:solidFill>
                <a:latin typeface="Luktao Ultra-Bold"/>
                <a:ea typeface="Luktao Ultra-Bold"/>
                <a:cs typeface="Luktao Ultra-Bold"/>
                <a:sym typeface="Luktao Ultra-Bold"/>
              </a:rPr>
              <a:t>+</a:t>
            </a:r>
          </a:p>
        </p:txBody>
      </p:sp>
      <p:sp>
        <p:nvSpPr>
          <p:cNvPr name="TextBox 19" id="19"/>
          <p:cNvSpPr txBox="true"/>
          <p:nvPr/>
        </p:nvSpPr>
        <p:spPr>
          <a:xfrm rot="-10800000">
            <a:off x="3247158" y="6990666"/>
            <a:ext cx="1178274" cy="2816919"/>
          </a:xfrm>
          <a:prstGeom prst="rect">
            <a:avLst/>
          </a:prstGeom>
        </p:spPr>
        <p:txBody>
          <a:bodyPr anchor="t" rtlCol="false" tIns="0" lIns="0" bIns="0" rIns="0">
            <a:spAutoFit/>
          </a:bodyPr>
          <a:lstStyle/>
          <a:p>
            <a:pPr algn="l" marL="0" indent="0" lvl="1">
              <a:lnSpc>
                <a:spcPts val="23045"/>
              </a:lnSpc>
              <a:spcBef>
                <a:spcPct val="0"/>
              </a:spcBef>
            </a:pPr>
            <a:r>
              <a:rPr lang="en-US" b="true" sz="16460" spc="790" strike="noStrike" u="none">
                <a:solidFill>
                  <a:srgbClr val="9D34E8"/>
                </a:solidFill>
                <a:latin typeface="Luktao Ultra-Bold"/>
                <a:ea typeface="Luktao Ultra-Bold"/>
                <a:cs typeface="Luktao Ultra-Bold"/>
                <a:sym typeface="Luktao Ultra-Bold"/>
              </a:rPr>
              <a:t>+</a:t>
            </a:r>
          </a:p>
        </p:txBody>
      </p:sp>
      <p:sp>
        <p:nvSpPr>
          <p:cNvPr name="TextBox 20" id="20"/>
          <p:cNvSpPr txBox="true"/>
          <p:nvPr/>
        </p:nvSpPr>
        <p:spPr>
          <a:xfrm rot="0">
            <a:off x="4295635" y="3794316"/>
            <a:ext cx="9548794" cy="3060414"/>
          </a:xfrm>
          <a:prstGeom prst="rect">
            <a:avLst/>
          </a:prstGeom>
        </p:spPr>
        <p:txBody>
          <a:bodyPr anchor="t" rtlCol="false" tIns="0" lIns="0" bIns="0" rIns="0">
            <a:spAutoFit/>
          </a:bodyPr>
          <a:lstStyle/>
          <a:p>
            <a:pPr algn="ctr">
              <a:lnSpc>
                <a:spcPts val="3515"/>
              </a:lnSpc>
            </a:pPr>
            <a:r>
              <a:rPr lang="en-US" b="true" sz="2511" spc="120">
                <a:solidFill>
                  <a:srgbClr val="FFF6EA"/>
                </a:solidFill>
                <a:latin typeface="Nunito Bold"/>
                <a:ea typeface="Nunito Bold"/>
                <a:cs typeface="Nunito Bold"/>
                <a:sym typeface="Nunito Bold"/>
              </a:rPr>
              <a:t>Making Outbreak Management Smarter and Faster</a:t>
            </a:r>
          </a:p>
          <a:p>
            <a:pPr algn="ctr">
              <a:lnSpc>
                <a:spcPts val="3515"/>
              </a:lnSpc>
            </a:pPr>
            <a:r>
              <a:rPr lang="en-US" sz="2511" spc="120">
                <a:solidFill>
                  <a:srgbClr val="FFF6EA"/>
                </a:solidFill>
                <a:latin typeface="Nunito"/>
                <a:ea typeface="Nunito"/>
                <a:cs typeface="Nunito"/>
                <a:sym typeface="Nunito"/>
              </a:rPr>
              <a:t>Our platform transforms fragmented data into coordinated action, empowering health systems to stay ahead of disease outbreaks rather than react to them. By bridging prediction, visualisation, and resource management, we're building the future of public health preparedness.</a:t>
            </a:r>
          </a:p>
          <a:p>
            <a:pPr algn="ctr" marL="0" indent="0" lvl="1">
              <a:lnSpc>
                <a:spcPts val="3515"/>
              </a:lnSpc>
              <a:spcBef>
                <a:spcPct val="0"/>
              </a:spcBef>
            </a:pPr>
          </a:p>
        </p:txBody>
      </p:sp>
      <p:sp>
        <p:nvSpPr>
          <p:cNvPr name="TextBox 21" id="21"/>
          <p:cNvSpPr txBox="true"/>
          <p:nvPr/>
        </p:nvSpPr>
        <p:spPr>
          <a:xfrm rot="0">
            <a:off x="4295635" y="2467810"/>
            <a:ext cx="9696730" cy="2069608"/>
          </a:xfrm>
          <a:prstGeom prst="rect">
            <a:avLst/>
          </a:prstGeom>
        </p:spPr>
        <p:txBody>
          <a:bodyPr anchor="t" rtlCol="false" tIns="0" lIns="0" bIns="0" rIns="0">
            <a:spAutoFit/>
          </a:bodyPr>
          <a:lstStyle/>
          <a:p>
            <a:pPr algn="ctr">
              <a:lnSpc>
                <a:spcPts val="8300"/>
              </a:lnSpc>
            </a:pPr>
            <a:r>
              <a:rPr lang="en-US" sz="5928" b="true">
                <a:solidFill>
                  <a:srgbClr val="FFF6EA"/>
                </a:solidFill>
                <a:latin typeface="Luktao Bold"/>
                <a:ea typeface="Luktao Bold"/>
                <a:cs typeface="Luktao Bold"/>
                <a:sym typeface="Luktao Bold"/>
              </a:rPr>
              <a:t>From Prediction to Action</a:t>
            </a:r>
          </a:p>
          <a:p>
            <a:pPr algn="ctr">
              <a:lnSpc>
                <a:spcPts val="8300"/>
              </a:lnSpc>
            </a:pPr>
          </a:p>
        </p:txBody>
      </p:sp>
      <p:sp>
        <p:nvSpPr>
          <p:cNvPr name="Freeform 22" id="22"/>
          <p:cNvSpPr/>
          <p:nvPr/>
        </p:nvSpPr>
        <p:spPr>
          <a:xfrm flipH="false" flipV="false" rot="1634739">
            <a:off x="4218851" y="8293356"/>
            <a:ext cx="1990835" cy="2499907"/>
          </a:xfrm>
          <a:custGeom>
            <a:avLst/>
            <a:gdLst/>
            <a:ahLst/>
            <a:cxnLst/>
            <a:rect r="r" b="b" t="t" l="l"/>
            <a:pathLst>
              <a:path h="2499907" w="1990835">
                <a:moveTo>
                  <a:pt x="0" y="0"/>
                </a:moveTo>
                <a:lnTo>
                  <a:pt x="1990835" y="0"/>
                </a:lnTo>
                <a:lnTo>
                  <a:pt x="1990835" y="2499907"/>
                </a:lnTo>
                <a:lnTo>
                  <a:pt x="0" y="24999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3" id="23"/>
          <p:cNvGrpSpPr/>
          <p:nvPr/>
        </p:nvGrpSpPr>
        <p:grpSpPr>
          <a:xfrm rot="0">
            <a:off x="4076280" y="7436461"/>
            <a:ext cx="9842117" cy="1992863"/>
            <a:chOff x="0" y="0"/>
            <a:chExt cx="2592162" cy="524869"/>
          </a:xfrm>
        </p:grpSpPr>
        <p:sp>
          <p:nvSpPr>
            <p:cNvPr name="Freeform 24" id="24"/>
            <p:cNvSpPr/>
            <p:nvPr/>
          </p:nvSpPr>
          <p:spPr>
            <a:xfrm flipH="false" flipV="false" rot="0">
              <a:off x="0" y="0"/>
              <a:ext cx="2592163" cy="524869"/>
            </a:xfrm>
            <a:custGeom>
              <a:avLst/>
              <a:gdLst/>
              <a:ahLst/>
              <a:cxnLst/>
              <a:rect r="r" b="b" t="t" l="l"/>
              <a:pathLst>
                <a:path h="524869" w="2592163">
                  <a:moveTo>
                    <a:pt x="18092" y="0"/>
                  </a:moveTo>
                  <a:lnTo>
                    <a:pt x="2574070" y="0"/>
                  </a:lnTo>
                  <a:cubicBezTo>
                    <a:pt x="2578869" y="0"/>
                    <a:pt x="2583471" y="1906"/>
                    <a:pt x="2586863" y="5299"/>
                  </a:cubicBezTo>
                  <a:cubicBezTo>
                    <a:pt x="2590256" y="8692"/>
                    <a:pt x="2592163" y="13294"/>
                    <a:pt x="2592163" y="18092"/>
                  </a:cubicBezTo>
                  <a:lnTo>
                    <a:pt x="2592163" y="506777"/>
                  </a:lnTo>
                  <a:cubicBezTo>
                    <a:pt x="2592163" y="511576"/>
                    <a:pt x="2590256" y="516177"/>
                    <a:pt x="2586863" y="519570"/>
                  </a:cubicBezTo>
                  <a:cubicBezTo>
                    <a:pt x="2583471" y="522963"/>
                    <a:pt x="2578869" y="524869"/>
                    <a:pt x="2574070" y="524869"/>
                  </a:cubicBezTo>
                  <a:lnTo>
                    <a:pt x="18092" y="524869"/>
                  </a:lnTo>
                  <a:cubicBezTo>
                    <a:pt x="13294" y="524869"/>
                    <a:pt x="8692" y="522963"/>
                    <a:pt x="5299" y="519570"/>
                  </a:cubicBezTo>
                  <a:cubicBezTo>
                    <a:pt x="1906" y="516177"/>
                    <a:pt x="0" y="511576"/>
                    <a:pt x="0" y="506777"/>
                  </a:cubicBezTo>
                  <a:lnTo>
                    <a:pt x="0" y="18092"/>
                  </a:lnTo>
                  <a:cubicBezTo>
                    <a:pt x="0" y="13294"/>
                    <a:pt x="1906" y="8692"/>
                    <a:pt x="5299" y="5299"/>
                  </a:cubicBezTo>
                  <a:cubicBezTo>
                    <a:pt x="8692" y="1906"/>
                    <a:pt x="13294" y="0"/>
                    <a:pt x="18092" y="0"/>
                  </a:cubicBezTo>
                  <a:close/>
                </a:path>
              </a:pathLst>
            </a:custGeom>
            <a:solidFill>
              <a:srgbClr val="610C9E"/>
            </a:solidFill>
          </p:spPr>
        </p:sp>
        <p:sp>
          <p:nvSpPr>
            <p:cNvPr name="TextBox 25" id="25"/>
            <p:cNvSpPr txBox="true"/>
            <p:nvPr/>
          </p:nvSpPr>
          <p:spPr>
            <a:xfrm>
              <a:off x="0" y="-28575"/>
              <a:ext cx="2592162" cy="553444"/>
            </a:xfrm>
            <a:prstGeom prst="rect">
              <a:avLst/>
            </a:prstGeom>
          </p:spPr>
          <p:txBody>
            <a:bodyPr anchor="ctr" rtlCol="false" tIns="50800" lIns="50800" bIns="50800" rIns="50800"/>
            <a:lstStyle/>
            <a:p>
              <a:pPr algn="ctr">
                <a:lnSpc>
                  <a:spcPts val="2442"/>
                </a:lnSpc>
              </a:pPr>
            </a:p>
          </p:txBody>
        </p:sp>
      </p:grpSp>
      <p:sp>
        <p:nvSpPr>
          <p:cNvPr name="TextBox 26" id="26"/>
          <p:cNvSpPr txBox="true"/>
          <p:nvPr/>
        </p:nvSpPr>
        <p:spPr>
          <a:xfrm rot="0">
            <a:off x="4295635" y="7776781"/>
            <a:ext cx="9476101" cy="1652544"/>
          </a:xfrm>
          <a:prstGeom prst="rect">
            <a:avLst/>
          </a:prstGeom>
        </p:spPr>
        <p:txBody>
          <a:bodyPr anchor="t" rtlCol="false" tIns="0" lIns="0" bIns="0" rIns="0">
            <a:spAutoFit/>
          </a:bodyPr>
          <a:lstStyle/>
          <a:p>
            <a:pPr algn="ctr">
              <a:lnSpc>
                <a:spcPts val="3301"/>
              </a:lnSpc>
            </a:pPr>
            <a:r>
              <a:rPr lang="en-US" sz="2358">
                <a:solidFill>
                  <a:srgbClr val="F7FCFD"/>
                </a:solidFill>
                <a:latin typeface="Canva Sans"/>
                <a:ea typeface="Canva Sans"/>
                <a:cs typeface="Canva Sans"/>
                <a:sym typeface="Canva Sans"/>
              </a:rPr>
              <a:t>Thank you for your time and consideration. Together, we can revolutionise how communities prepare for and respond to infectious disease threats.</a:t>
            </a:r>
          </a:p>
          <a:p>
            <a:pPr algn="ctr">
              <a:lnSpc>
                <a:spcPts val="3301"/>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9200973" cy="5750608"/>
          </a:xfrm>
          <a:custGeom>
            <a:avLst/>
            <a:gdLst/>
            <a:ahLst/>
            <a:cxnLst/>
            <a:rect r="r" b="b" t="t" l="l"/>
            <a:pathLst>
              <a:path h="5750608" w="9200973">
                <a:moveTo>
                  <a:pt x="0" y="0"/>
                </a:moveTo>
                <a:lnTo>
                  <a:pt x="9200973" y="0"/>
                </a:lnTo>
                <a:lnTo>
                  <a:pt x="9200973" y="5750608"/>
                </a:lnTo>
                <a:lnTo>
                  <a:pt x="0" y="5750608"/>
                </a:lnTo>
                <a:lnTo>
                  <a:pt x="0" y="0"/>
                </a:lnTo>
                <a:close/>
              </a:path>
            </a:pathLst>
          </a:custGeom>
          <a:blipFill>
            <a:blip r:embed="rId2"/>
            <a:stretch>
              <a:fillRect l="0" t="0" r="0" b="0"/>
            </a:stretch>
          </a:blipFill>
        </p:spPr>
      </p:sp>
      <p:sp>
        <p:nvSpPr>
          <p:cNvPr name="Freeform 3" id="3"/>
          <p:cNvSpPr/>
          <p:nvPr/>
        </p:nvSpPr>
        <p:spPr>
          <a:xfrm flipH="false" flipV="false" rot="0">
            <a:off x="9144000" y="4536392"/>
            <a:ext cx="9200973" cy="5750608"/>
          </a:xfrm>
          <a:custGeom>
            <a:avLst/>
            <a:gdLst/>
            <a:ahLst/>
            <a:cxnLst/>
            <a:rect r="r" b="b" t="t" l="l"/>
            <a:pathLst>
              <a:path h="5750608" w="9200973">
                <a:moveTo>
                  <a:pt x="0" y="0"/>
                </a:moveTo>
                <a:lnTo>
                  <a:pt x="9200973" y="0"/>
                </a:lnTo>
                <a:lnTo>
                  <a:pt x="9200973" y="5750608"/>
                </a:lnTo>
                <a:lnTo>
                  <a:pt x="0" y="5750608"/>
                </a:lnTo>
                <a:lnTo>
                  <a:pt x="0" y="0"/>
                </a:lnTo>
                <a:close/>
              </a:path>
            </a:pathLst>
          </a:custGeom>
          <a:blipFill>
            <a:blip r:embed="rId3"/>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sp>
        <p:nvSpPr>
          <p:cNvPr name="Freeform 2" id="2"/>
          <p:cNvSpPr/>
          <p:nvPr/>
        </p:nvSpPr>
        <p:spPr>
          <a:xfrm flipH="false" flipV="false" rot="0">
            <a:off x="9087027" y="0"/>
            <a:ext cx="9200973" cy="5750608"/>
          </a:xfrm>
          <a:custGeom>
            <a:avLst/>
            <a:gdLst/>
            <a:ahLst/>
            <a:cxnLst/>
            <a:rect r="r" b="b" t="t" l="l"/>
            <a:pathLst>
              <a:path h="5750608" w="9200973">
                <a:moveTo>
                  <a:pt x="0" y="0"/>
                </a:moveTo>
                <a:lnTo>
                  <a:pt x="9200973" y="0"/>
                </a:lnTo>
                <a:lnTo>
                  <a:pt x="9200973" y="5750608"/>
                </a:lnTo>
                <a:lnTo>
                  <a:pt x="0" y="5750608"/>
                </a:lnTo>
                <a:lnTo>
                  <a:pt x="0" y="0"/>
                </a:lnTo>
                <a:close/>
              </a:path>
            </a:pathLst>
          </a:custGeom>
          <a:blipFill>
            <a:blip r:embed="rId2"/>
            <a:stretch>
              <a:fillRect l="0" t="0" r="0" b="0"/>
            </a:stretch>
          </a:blipFill>
        </p:spPr>
      </p:sp>
      <p:sp>
        <p:nvSpPr>
          <p:cNvPr name="Freeform 3" id="3"/>
          <p:cNvSpPr/>
          <p:nvPr/>
        </p:nvSpPr>
        <p:spPr>
          <a:xfrm flipH="false" flipV="false" rot="0">
            <a:off x="-113945" y="0"/>
            <a:ext cx="9200973" cy="5750608"/>
          </a:xfrm>
          <a:custGeom>
            <a:avLst/>
            <a:gdLst/>
            <a:ahLst/>
            <a:cxnLst/>
            <a:rect r="r" b="b" t="t" l="l"/>
            <a:pathLst>
              <a:path h="5750608" w="9200973">
                <a:moveTo>
                  <a:pt x="0" y="0"/>
                </a:moveTo>
                <a:lnTo>
                  <a:pt x="9200972" y="0"/>
                </a:lnTo>
                <a:lnTo>
                  <a:pt x="9200972" y="5750608"/>
                </a:lnTo>
                <a:lnTo>
                  <a:pt x="0" y="5750608"/>
                </a:lnTo>
                <a:lnTo>
                  <a:pt x="0" y="0"/>
                </a:lnTo>
                <a:close/>
              </a:path>
            </a:pathLst>
          </a:custGeom>
          <a:blipFill>
            <a:blip r:embed="rId3"/>
            <a:stretch>
              <a:fillRect l="0" t="0" r="0" b="0"/>
            </a:stretch>
          </a:blipFill>
        </p:spPr>
      </p:sp>
      <p:sp>
        <p:nvSpPr>
          <p:cNvPr name="Freeform 4" id="4"/>
          <p:cNvSpPr/>
          <p:nvPr/>
        </p:nvSpPr>
        <p:spPr>
          <a:xfrm flipH="false" flipV="false" rot="0">
            <a:off x="-113945" y="4536392"/>
            <a:ext cx="9200973" cy="5750608"/>
          </a:xfrm>
          <a:custGeom>
            <a:avLst/>
            <a:gdLst/>
            <a:ahLst/>
            <a:cxnLst/>
            <a:rect r="r" b="b" t="t" l="l"/>
            <a:pathLst>
              <a:path h="5750608" w="9200973">
                <a:moveTo>
                  <a:pt x="0" y="0"/>
                </a:moveTo>
                <a:lnTo>
                  <a:pt x="9200972" y="0"/>
                </a:lnTo>
                <a:lnTo>
                  <a:pt x="9200972" y="5750608"/>
                </a:lnTo>
                <a:lnTo>
                  <a:pt x="0" y="5750608"/>
                </a:lnTo>
                <a:lnTo>
                  <a:pt x="0" y="0"/>
                </a:lnTo>
                <a:close/>
              </a:path>
            </a:pathLst>
          </a:custGeom>
          <a:blipFill>
            <a:blip r:embed="rId4"/>
            <a:stretch>
              <a:fillRect l="0" t="0" r="0" b="0"/>
            </a:stretch>
          </a:blipFill>
        </p:spPr>
      </p:sp>
      <p:sp>
        <p:nvSpPr>
          <p:cNvPr name="Freeform 5" id="5"/>
          <p:cNvSpPr/>
          <p:nvPr/>
        </p:nvSpPr>
        <p:spPr>
          <a:xfrm flipH="false" flipV="false" rot="0">
            <a:off x="9087027" y="4536392"/>
            <a:ext cx="9200973" cy="5750608"/>
          </a:xfrm>
          <a:custGeom>
            <a:avLst/>
            <a:gdLst/>
            <a:ahLst/>
            <a:cxnLst/>
            <a:rect r="r" b="b" t="t" l="l"/>
            <a:pathLst>
              <a:path h="5750608" w="9200973">
                <a:moveTo>
                  <a:pt x="0" y="0"/>
                </a:moveTo>
                <a:lnTo>
                  <a:pt x="9200973" y="0"/>
                </a:lnTo>
                <a:lnTo>
                  <a:pt x="9200973" y="5750608"/>
                </a:lnTo>
                <a:lnTo>
                  <a:pt x="0" y="5750608"/>
                </a:lnTo>
                <a:lnTo>
                  <a:pt x="0" y="0"/>
                </a:lnTo>
                <a:close/>
              </a:path>
            </a:pathLst>
          </a:custGeom>
          <a:blipFill>
            <a:blip r:embed="rId5"/>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DAG59CVw5-s</dc:identifier>
  <dcterms:modified xsi:type="dcterms:W3CDTF">2011-08-01T06:04:30Z</dcterms:modified>
  <cp:revision>1</cp:revision>
  <dc:title>project</dc:title>
</cp:coreProperties>
</file>